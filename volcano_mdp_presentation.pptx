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61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07637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6032" y="2377440"/>
            <a:ext cx="2743200" cy="2743200"/>
          </a:xfrm>
          <a:prstGeom prst="ellipse">
            <a:avLst/>
          </a:prstGeom>
          <a:solidFill>
            <a:srgbClr val="FF4500">
              <a:alpha val="25000"/>
            </a:srgbClr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19524" y="0"/>
            <a:ext cx="3657600" cy="3657600"/>
          </a:xfrm>
          <a:prstGeom prst="ellipse">
            <a:avLst/>
          </a:prstGeom>
          <a:solidFill>
            <a:srgbClr val="E8510A">
              <a:alpha val="20000"/>
            </a:srgbClr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3200400"/>
            <a:ext cx="1828800" cy="1828800"/>
          </a:xfrm>
          <a:prstGeom prst="ellipse">
            <a:avLst/>
          </a:prstGeom>
          <a:solidFill>
            <a:srgbClr val="F7941D">
              <a:alpha val="30000"/>
            </a:srgbClr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280160"/>
            <a:ext cx="109728" cy="256032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772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VOLCANO MDP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731520" y="24231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Navigation Under Uncertainty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31520" y="3108960"/>
            <a:ext cx="5486400" cy="36576"/>
          </a:xfrm>
          <a:prstGeom prst="rect">
            <a:avLst/>
          </a:prstGeom>
          <a:solidFill>
            <a:srgbClr val="E8510A">
              <a:alpha val="60000"/>
            </a:srgbClr>
          </a:solidFill>
          <a:ln w="12700">
            <a:solidFill>
              <a:srgbClr val="E8510A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2918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chemeClr val="accent4">
                    <a:lumMod val="60000"/>
                    <a:lumOff val="40000"/>
                  </a:schemeClr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Markov Decision Process  •  Value Iteration  •  Autonomous Agent  •  Python</a:t>
            </a:r>
            <a:endParaRPr lang="en-US" sz="1500" b="1" dirty="0">
              <a:solidFill>
                <a:schemeClr val="accent4">
                  <a:lumMod val="60000"/>
                  <a:lumOff val="4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400800" y="379823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76288" y="379823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51776" y="379823"/>
            <a:ext cx="448056" cy="448056"/>
          </a:xfrm>
          <a:prstGeom prst="rect">
            <a:avLst/>
          </a:prstGeom>
          <a:solidFill>
            <a:srgbClr val="FF45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27264" y="379823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02752" y="379823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855311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76288" y="855311"/>
            <a:ext cx="448056" cy="448056"/>
          </a:xfrm>
          <a:prstGeom prst="rect">
            <a:avLst/>
          </a:prstGeom>
          <a:solidFill>
            <a:srgbClr val="2ECC71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51776" y="855311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27264" y="855311"/>
            <a:ext cx="448056" cy="448056"/>
          </a:xfrm>
          <a:prstGeom prst="rect">
            <a:avLst/>
          </a:prstGeom>
          <a:solidFill>
            <a:srgbClr val="FF45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02752" y="855311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1330799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76288" y="1330799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51776" y="1330799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1330799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302752" y="1330799"/>
            <a:ext cx="448056" cy="448056"/>
          </a:xfrm>
          <a:prstGeom prst="rect">
            <a:avLst/>
          </a:prstGeom>
          <a:solidFill>
            <a:srgbClr val="FF45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0" y="1806287"/>
            <a:ext cx="448056" cy="448056"/>
          </a:xfrm>
          <a:prstGeom prst="rect">
            <a:avLst/>
          </a:prstGeom>
          <a:solidFill>
            <a:srgbClr val="2ECC71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76288" y="1806287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51776" y="1806287"/>
            <a:ext cx="448056" cy="448056"/>
          </a:xfrm>
          <a:prstGeom prst="rect">
            <a:avLst/>
          </a:prstGeom>
          <a:solidFill>
            <a:srgbClr val="FFD7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27264" y="1806287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02752" y="1806287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0" y="2281775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876288" y="2281775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351776" y="2281775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27264" y="2281775"/>
            <a:ext cx="448056" cy="448056"/>
          </a:xfrm>
          <a:prstGeom prst="rect">
            <a:avLst/>
          </a:prstGeom>
          <a:solidFill>
            <a:srgbClr val="2ECC71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302752" y="2281775"/>
            <a:ext cx="448056" cy="448056"/>
          </a:xfrm>
          <a:prstGeom prst="rect">
            <a:avLst/>
          </a:prstGeom>
          <a:solidFill>
            <a:srgbClr val="2D1200"/>
          </a:solidFill>
          <a:ln w="6350">
            <a:solidFill>
              <a:srgbClr val="3D18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0" y="379823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🤖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51776" y="1330799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⬛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0" y="475488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3E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Project  |  Python &amp; NumPy</a:t>
            </a:r>
            <a:endParaRPr lang="en-US" sz="10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23D471D-3D3C-412B-84E2-848D48398F69}"/>
              </a:ext>
            </a:extLst>
          </p:cNvPr>
          <p:cNvSpPr txBox="1"/>
          <p:nvPr/>
        </p:nvSpPr>
        <p:spPr>
          <a:xfrm>
            <a:off x="147883" y="-32343"/>
            <a:ext cx="20633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CSE440-AI</a:t>
            </a:r>
          </a:p>
          <a:p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Group-5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B6DF00F-B1B8-474C-867D-B47DD5053960}"/>
              </a:ext>
            </a:extLst>
          </p:cNvPr>
          <p:cNvSpPr txBox="1"/>
          <p:nvPr/>
        </p:nvSpPr>
        <p:spPr>
          <a:xfrm>
            <a:off x="327288" y="3816917"/>
            <a:ext cx="8981946" cy="12618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b="1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Group Members:</a:t>
            </a:r>
          </a:p>
          <a:p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1.Towhidul Islam-2212172042     3.</a:t>
            </a:r>
            <a:r>
              <a:rPr lang="en-US" sz="2200" i="0" dirty="0">
                <a:solidFill>
                  <a:srgbClr val="E2E5E9"/>
                </a:solidFill>
                <a:effectLst/>
                <a:latin typeface="Segoe UI Historic" panose="020B0502040204020203" pitchFamily="34" charset="0"/>
              </a:rPr>
              <a:t> </a:t>
            </a:r>
            <a:r>
              <a:rPr lang="en-US" sz="2200" i="0" dirty="0" err="1">
                <a:solidFill>
                  <a:srgbClr val="E2E5E9"/>
                </a:solidFill>
                <a:effectLst/>
                <a:latin typeface="Segoe UI Historic" panose="020B0502040204020203" pitchFamily="34" charset="0"/>
              </a:rPr>
              <a:t>Sinthia</a:t>
            </a:r>
            <a:r>
              <a:rPr lang="en-US" sz="2200" i="0" dirty="0">
                <a:solidFill>
                  <a:srgbClr val="E2E5E9"/>
                </a:solidFill>
                <a:effectLst/>
                <a:latin typeface="Segoe UI Historic" panose="020B0502040204020203" pitchFamily="34" charset="0"/>
              </a:rPr>
              <a:t> Ahmed Rachona</a:t>
            </a:r>
            <a:r>
              <a:rPr lang="en-US" sz="2200" dirty="0">
                <a:solidFill>
                  <a:srgbClr val="E2E5E9"/>
                </a:solidFill>
                <a:latin typeface="Segoe UI Historic" panose="020B0502040204020203" pitchFamily="34" charset="0"/>
              </a:rPr>
              <a:t>-</a:t>
            </a:r>
            <a:r>
              <a:rPr lang="en-US" sz="2200" i="0" dirty="0">
                <a:solidFill>
                  <a:srgbClr val="E2E5E9"/>
                </a:solidFill>
                <a:effectLst/>
                <a:latin typeface="Segoe UI Historic" panose="020B0502040204020203" pitchFamily="34" charset="0"/>
              </a:rPr>
              <a:t>2211916042</a:t>
            </a:r>
            <a:endParaRPr lang="en-US" sz="2200" dirty="0">
              <a:solidFill>
                <a:schemeClr val="bg1">
                  <a:lumMod val="9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sz="22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</a:t>
            </a:r>
            <a:r>
              <a:rPr lang="en-US" sz="2200" i="0" dirty="0">
                <a:solidFill>
                  <a:srgbClr val="E2E5E9"/>
                </a:solidFill>
                <a:effectLst/>
                <a:latin typeface="inherit"/>
              </a:rPr>
              <a:t> Ashraful Islam-2212669042       4.</a:t>
            </a:r>
            <a:r>
              <a:rPr lang="sv-SE" sz="2400" b="0" i="0" dirty="0">
                <a:solidFill>
                  <a:srgbClr val="E2E5E9"/>
                </a:solidFill>
                <a:effectLst/>
                <a:latin typeface="Segoe UI Historic" panose="020B0502040204020203" pitchFamily="34" charset="0"/>
              </a:rPr>
              <a:t> M.G.Rabbi Hossen-2222516042</a:t>
            </a:r>
            <a:endParaRPr lang="en-US" sz="2200" i="0" dirty="0">
              <a:solidFill>
                <a:srgbClr val="E2E5E9"/>
              </a:solidFill>
              <a:effectLst/>
              <a:latin typeface="inherit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3B88B93-8EC4-4A49-BBC7-93631EEF85BB}"/>
              </a:ext>
            </a:extLst>
          </p:cNvPr>
          <p:cNvSpPr txBox="1"/>
          <p:nvPr/>
        </p:nvSpPr>
        <p:spPr>
          <a:xfrm>
            <a:off x="8300156" y="2244698"/>
            <a:ext cx="386644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>
                <a:solidFill>
                  <a:srgbClr val="FF0000"/>
                </a:solidFill>
              </a:rPr>
              <a:t>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82296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0" y="0"/>
            <a:ext cx="4572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0" y="7315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051560"/>
            <a:ext cx="8412480" cy="914400"/>
          </a:xfrm>
          <a:prstGeom prst="rect">
            <a:avLst/>
          </a:prstGeom>
          <a:solidFill>
            <a:srgbClr val="2D1200"/>
          </a:solidFill>
          <a:ln w="2540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09728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🌋  A robot is deployed on an active volcano to collect scientific samples and reach a goal location — without being destroyed.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65760" y="2148840"/>
            <a:ext cx="41148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2240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1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 Dangerous Environment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560320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volcano has craters, lava zones, and toxic gas pockets that can destroy the robot.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2148840"/>
            <a:ext cx="41148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00600" y="224028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1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🧭  No Human Control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2560320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must find its own path — no step-by-step human guidance is available.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429000"/>
            <a:ext cx="41148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35204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1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Sequential Decisions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02920" y="3840480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move the robot makes affects where it can go next, and what rewards or penalties it receives.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3429000"/>
            <a:ext cx="4114800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800600" y="3520440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51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🔁  Needs a Smart Policy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00600" y="3840480"/>
            <a:ext cx="38404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must learn the best action at every location to maximize long-term mission success.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OBJECTIVES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503920" y="73152"/>
            <a:ext cx="548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4320" y="1097280"/>
            <a:ext cx="2743200" cy="178308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17043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6702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🗺️  Model the Environment as a Grid World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986534"/>
            <a:ext cx="2578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the volcano as a 10×10 grid where each cell has a reward value (safe, gas zone, lava, crater, goal).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00400" y="1097280"/>
            <a:ext cx="2743200" cy="178308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91840" y="117043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471203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Build an Autonomous Agent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91840" y="1993392"/>
            <a:ext cx="2578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robot agent that can sense its position and choose one of four actions: UP, DOWN, LEFT, RIGHT.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26480" y="1097280"/>
            <a:ext cx="2743200" cy="178308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117043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🔢  Apply Markov Decision Process (MDP)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245352" y="1986534"/>
            <a:ext cx="2578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MDP framework to formally define states, actions, transitions, and rewards for the robot's mission.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3017520"/>
            <a:ext cx="2743200" cy="178308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30906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2920" y="313410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Solve with Value Iteration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65760" y="3858768"/>
            <a:ext cx="2578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Value Iteration algorithm to compute the optimal policy — the best action at every cell.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200400" y="3017520"/>
            <a:ext cx="2743200" cy="178308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291840" y="30906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471203" y="3123379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Maximize Mission Success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291840" y="3909060"/>
            <a:ext cx="2578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should collect samples and reach the goal while avoiding hazards, maximizing cumulative reward.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26480" y="3017520"/>
            <a:ext cx="2743200" cy="178308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217920" y="309067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0" y="3155911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📈  Visualize the </a:t>
            </a:r>
          </a:p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217920" y="3909060"/>
            <a:ext cx="25786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A0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the value map and policy (direction arrows) on the grid so we can verify the robot's decision-making.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0973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0" y="0"/>
            <a:ext cx="457200" cy="620973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0" y="7315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58936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7848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36760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5672" y="646899"/>
            <a:ext cx="420624" cy="420624"/>
          </a:xfrm>
          <a:prstGeom prst="rect">
            <a:avLst/>
          </a:prstGeom>
          <a:solidFill>
            <a:srgbClr val="228B22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14584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3496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2408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31320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70232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9144" y="64689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8936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7848" y="1085811"/>
            <a:ext cx="420624" cy="420624"/>
          </a:xfrm>
          <a:prstGeom prst="rect">
            <a:avLst/>
          </a:prstGeom>
          <a:solidFill>
            <a:srgbClr val="8B000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6760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75672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14584" y="1085811"/>
            <a:ext cx="420624" cy="420624"/>
          </a:xfrm>
          <a:prstGeom prst="rect">
            <a:avLst/>
          </a:prstGeom>
          <a:solidFill>
            <a:srgbClr val="E8510A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3496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2408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31320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70232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09144" y="108581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8936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7848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36760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75672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114584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3496" y="1524723"/>
            <a:ext cx="420624" cy="420624"/>
          </a:xfrm>
          <a:prstGeom prst="rect">
            <a:avLst/>
          </a:prstGeom>
          <a:solidFill>
            <a:srgbClr val="228B22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2408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31320" y="1524723"/>
            <a:ext cx="420624" cy="420624"/>
          </a:xfrm>
          <a:prstGeom prst="rect">
            <a:avLst/>
          </a:prstGeom>
          <a:solidFill>
            <a:srgbClr val="8B000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70232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09144" y="152472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8936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97848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236760" y="1963635"/>
            <a:ext cx="420624" cy="420624"/>
          </a:xfrm>
          <a:prstGeom prst="rect">
            <a:avLst/>
          </a:prstGeom>
          <a:solidFill>
            <a:srgbClr val="E8510A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75672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14584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553496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92408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431320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70232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09144" y="196363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8936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7848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236760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75672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14584" y="2402547"/>
            <a:ext cx="420624" cy="420624"/>
          </a:xfrm>
          <a:prstGeom prst="rect">
            <a:avLst/>
          </a:prstGeom>
          <a:solidFill>
            <a:srgbClr val="8B000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553496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992408" y="2402547"/>
            <a:ext cx="420624" cy="420624"/>
          </a:xfrm>
          <a:prstGeom prst="rect">
            <a:avLst/>
          </a:prstGeom>
          <a:solidFill>
            <a:srgbClr val="E8510A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431320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870232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309144" y="240254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58936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97848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236760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675672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114584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553496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992408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431320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70232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309144" y="2841459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58936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97848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36760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675672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114584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553496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992408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431320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870232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4309144" y="3280371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58936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97848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236760" y="3719283"/>
            <a:ext cx="420624" cy="420624"/>
          </a:xfrm>
          <a:prstGeom prst="rect">
            <a:avLst/>
          </a:prstGeom>
          <a:solidFill>
            <a:srgbClr val="8B000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675672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2114584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553496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992408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31320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870232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4309144" y="3719283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58936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97848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236760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675672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114584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553496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92408" y="4158195"/>
            <a:ext cx="420624" cy="420624"/>
          </a:xfrm>
          <a:prstGeom prst="rect">
            <a:avLst/>
          </a:prstGeom>
          <a:solidFill>
            <a:srgbClr val="8B000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431320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870232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309144" y="4158195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58936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97848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236760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675672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114584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553496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992408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3431320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3870232" y="4597107"/>
            <a:ext cx="420624" cy="420624"/>
          </a:xfrm>
          <a:prstGeom prst="rect">
            <a:avLst/>
          </a:prstGeom>
          <a:solidFill>
            <a:srgbClr val="E8D5B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309144" y="4597107"/>
            <a:ext cx="420624" cy="420624"/>
          </a:xfrm>
          <a:prstGeom prst="rect">
            <a:avLst/>
          </a:prstGeom>
          <a:solidFill>
            <a:srgbClr val="FFD700"/>
          </a:solidFill>
          <a:ln w="5080">
            <a:solidFill>
              <a:srgbClr val="C8A07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358936" y="646899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0000"/>
                </a:solidFill>
              </a:rPr>
              <a:t>🤖</a:t>
            </a:r>
            <a:endParaRPr lang="en-US" sz="1100" dirty="0"/>
          </a:p>
        </p:txBody>
      </p:sp>
      <p:sp>
        <p:nvSpPr>
          <p:cNvPr id="107" name="Text 105"/>
          <p:cNvSpPr/>
          <p:nvPr/>
        </p:nvSpPr>
        <p:spPr>
          <a:xfrm>
            <a:off x="51452" y="4946904"/>
            <a:ext cx="4389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World (10×10)</a:t>
            </a:r>
            <a:endParaRPr lang="en-US" sz="1000" dirty="0"/>
          </a:p>
        </p:txBody>
      </p:sp>
      <p:sp>
        <p:nvSpPr>
          <p:cNvPr id="108" name="Text 106"/>
          <p:cNvSpPr/>
          <p:nvPr/>
        </p:nvSpPr>
        <p:spPr>
          <a:xfrm>
            <a:off x="502920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0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Legend</a:t>
            </a:r>
            <a:endParaRPr lang="en-US" sz="1400" dirty="0"/>
          </a:p>
        </p:txBody>
      </p:sp>
      <p:sp>
        <p:nvSpPr>
          <p:cNvPr id="109" name="Shape 107"/>
          <p:cNvSpPr/>
          <p:nvPr/>
        </p:nvSpPr>
        <p:spPr>
          <a:xfrm>
            <a:off x="5029200" y="1508760"/>
            <a:ext cx="320040" cy="320040"/>
          </a:xfrm>
          <a:prstGeom prst="rect">
            <a:avLst/>
          </a:prstGeom>
          <a:solidFill>
            <a:srgbClr val="E8D5B0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440680" y="15087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Area (movement allowed)</a:t>
            </a:r>
            <a:endParaRPr lang="en-US" sz="1150" dirty="0"/>
          </a:p>
        </p:txBody>
      </p:sp>
      <p:sp>
        <p:nvSpPr>
          <p:cNvPr id="111" name="Shape 109"/>
          <p:cNvSpPr/>
          <p:nvPr/>
        </p:nvSpPr>
        <p:spPr>
          <a:xfrm>
            <a:off x="5029200" y="1984248"/>
            <a:ext cx="320040" cy="320040"/>
          </a:xfrm>
          <a:prstGeom prst="rect">
            <a:avLst/>
          </a:prstGeom>
          <a:solidFill>
            <a:srgbClr val="8B0000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440680" y="19842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Crater (robot destroyed, −100)</a:t>
            </a:r>
            <a:endParaRPr lang="en-US" sz="1150" dirty="0"/>
          </a:p>
        </p:txBody>
      </p:sp>
      <p:sp>
        <p:nvSpPr>
          <p:cNvPr id="113" name="Shape 111"/>
          <p:cNvSpPr/>
          <p:nvPr/>
        </p:nvSpPr>
        <p:spPr>
          <a:xfrm>
            <a:off x="5029200" y="2459736"/>
            <a:ext cx="320040" cy="320040"/>
          </a:xfrm>
          <a:prstGeom prst="rect">
            <a:avLst/>
          </a:prstGeom>
          <a:solidFill>
            <a:srgbClr val="E8510A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440680" y="245973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 Zone (−30 penalty)</a:t>
            </a:r>
            <a:endParaRPr lang="en-US" sz="1150" dirty="0"/>
          </a:p>
        </p:txBody>
      </p:sp>
      <p:sp>
        <p:nvSpPr>
          <p:cNvPr id="115" name="Shape 113"/>
          <p:cNvSpPr/>
          <p:nvPr/>
        </p:nvSpPr>
        <p:spPr>
          <a:xfrm>
            <a:off x="5029200" y="2935224"/>
            <a:ext cx="320040" cy="320040"/>
          </a:xfrm>
          <a:prstGeom prst="rect">
            <a:avLst/>
          </a:prstGeom>
          <a:solidFill>
            <a:srgbClr val="228B22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440680" y="293522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 Zone (−10 penalty)</a:t>
            </a:r>
            <a:endParaRPr lang="en-US" sz="1150" dirty="0"/>
          </a:p>
        </p:txBody>
      </p:sp>
      <p:sp>
        <p:nvSpPr>
          <p:cNvPr id="117" name="Shape 115"/>
          <p:cNvSpPr/>
          <p:nvPr/>
        </p:nvSpPr>
        <p:spPr>
          <a:xfrm>
            <a:off x="5029200" y="3410712"/>
            <a:ext cx="320040" cy="320040"/>
          </a:xfrm>
          <a:prstGeom prst="rect">
            <a:avLst/>
          </a:prstGeom>
          <a:solidFill>
            <a:srgbClr val="FFD700"/>
          </a:solidFill>
          <a:ln w="6350">
            <a:solidFill>
              <a:srgbClr val="999999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440680" y="34107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0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/ Flag (+100 reward)</a:t>
            </a:r>
            <a:endParaRPr lang="en-US" sz="1150" dirty="0"/>
          </a:p>
        </p:txBody>
      </p:sp>
      <p:sp>
        <p:nvSpPr>
          <p:cNvPr id="119" name="Shape 117"/>
          <p:cNvSpPr/>
          <p:nvPr/>
        </p:nvSpPr>
        <p:spPr>
          <a:xfrm>
            <a:off x="5029200" y="3977640"/>
            <a:ext cx="3749040" cy="1097280"/>
          </a:xfrm>
          <a:prstGeom prst="rect">
            <a:avLst/>
          </a:prstGeom>
          <a:solidFill>
            <a:srgbClr val="1A0A00"/>
          </a:solidFill>
          <a:ln w="19050">
            <a:solidFill>
              <a:srgbClr val="E8510A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166360" y="4041648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Size: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× 10 = 100 states
</a:t>
            </a:r>
            <a:r>
              <a:rPr lang="en-US" sz="115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UP, DOWN, LEFT, RIGHT
</a:t>
            </a:r>
            <a:r>
              <a:rPr lang="en-US" sz="1150" b="1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Factor γ: </a:t>
            </a: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 (future matters!)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METHODOLOGY / APPROACH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503920" y="73152"/>
            <a:ext cx="548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3931920" cy="2743200"/>
          </a:xfrm>
          <a:prstGeom prst="rect">
            <a:avLst/>
          </a:prstGeom>
          <a:solidFill>
            <a:srgbClr val="2D1200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0789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MDP Definition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536192"/>
            <a:ext cx="402336" cy="402336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361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87552" y="15727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States: All 100 grid cells are possible states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1993392"/>
            <a:ext cx="402336" cy="402336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19933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87552" y="20299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Actions: 4 moves: UP, DOWN, LEFT, RIGHT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450592"/>
            <a:ext cx="402336" cy="402336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4505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87552" y="24871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Transitions: Move to next cell if valid, else stay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2907792"/>
            <a:ext cx="402336" cy="402336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9077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87552" y="29443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Rewards: Cell values drive the reward signal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3364992"/>
            <a:ext cx="402336" cy="402336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36499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γ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3401568"/>
            <a:ext cx="3246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Discount: 0.9 — future rewards still matter a lot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0" y="1005840"/>
            <a:ext cx="4206240" cy="2743200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709160" y="1078992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Iteration Steps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709160" y="1536192"/>
            <a:ext cx="292608" cy="292608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9160" y="15361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102352" y="1554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Initialize all state values V(s) = 0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09160" y="2011680"/>
            <a:ext cx="292608" cy="292608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20116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102352" y="2029968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state, compute expected value for all 4 actions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487168"/>
            <a:ext cx="292608" cy="292608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24871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102352" y="2505456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action with maximum value → best policy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2962656"/>
            <a:ext cx="292608" cy="292608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09160" y="29626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02352" y="2980944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V(s) = max over all actions [R + γ·V(s')]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438144"/>
            <a:ext cx="292608" cy="292608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43814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102352" y="3456432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100 iterations until values converge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709160" y="3913632"/>
            <a:ext cx="292608" cy="292608"/>
          </a:xfrm>
          <a:prstGeom prst="ellipse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09160" y="3913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102352" y="39319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policy = the robot's decision map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65760" y="3840480"/>
            <a:ext cx="8412480" cy="685800"/>
          </a:xfrm>
          <a:prstGeom prst="rect">
            <a:avLst/>
          </a:prstGeom>
          <a:solidFill>
            <a:srgbClr val="0D0500"/>
          </a:solidFill>
          <a:ln w="19050">
            <a:solidFill>
              <a:srgbClr val="F7941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94360" y="39502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7941D"/>
                </a:solidFill>
                <a:latin typeface="Times New Roman" panose="02020603050405020304" pitchFamily="18" charset="0"/>
                <a:ea typeface="Consolas" pitchFamily="34" charset="-122"/>
                <a:cs typeface="Times New Roman" panose="02020603050405020304" pitchFamily="18" charset="0"/>
              </a:rPr>
              <a:t>Bellman Equation:   V(s) = max_a [ R(s, a) + γ · V(s') ]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FEATURES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686800" y="0"/>
            <a:ext cx="4572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0" y="7315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274320" y="1051560"/>
            <a:ext cx="28346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51560"/>
            <a:ext cx="2834640" cy="347472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8813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🗂️  Modular Codebase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" y="1472184"/>
            <a:ext cx="263347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separation: environment/, mdp/, agent/, utils/ — each module does one job. Easy to maintain and extend.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0" y="1051560"/>
            <a:ext cx="28346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51560"/>
            <a:ext cx="2834640" cy="347472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108813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🔢  Configurable Parameters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10128" y="1472184"/>
            <a:ext cx="263347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config.py centralizes all settings: grid size, discount factor, reward values. Change one file to experiment freely.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26480" y="1051560"/>
            <a:ext cx="28346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051560"/>
            <a:ext cx="2834640" cy="347472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108813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🧠  Value Iteration Solver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36208" y="1472184"/>
            <a:ext cx="263347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MDPSolver implements 100-iteration value iteration, computing optimal V(s) and policy for every grid cell.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2926080"/>
            <a:ext cx="28346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74320" y="2926080"/>
            <a:ext cx="2834640" cy="347472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96265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💰  Rich Reward System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" y="3346704"/>
            <a:ext cx="263347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rewards: +100 goal, +20 sample, +10 new area, −1 step, −10 gas, −30 lava, −100 crater.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0" y="2926080"/>
            <a:ext cx="28346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200400" y="2926080"/>
            <a:ext cx="2834640" cy="347472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96265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📐  Boundary Handling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10128" y="3346704"/>
            <a:ext cx="263347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Robots attempting to move off the grid stay in place — preventing invalid state errors automatically.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26480" y="2926080"/>
            <a:ext cx="2834640" cy="173736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26480" y="2926080"/>
            <a:ext cx="2834640" cy="347472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0" y="2962656"/>
            <a:ext cx="26517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🎨  Grid Visualization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36208" y="3346704"/>
            <a:ext cx="2633472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module displays the value map and optimal policy directions on the grid for easy interpretation.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 USED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503920" y="73152"/>
            <a:ext cx="548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788920" cy="1783080"/>
          </a:xfrm>
          <a:prstGeom prst="rect">
            <a:avLst/>
          </a:prstGeom>
          <a:solidFill>
            <a:srgbClr val="2D1200"/>
          </a:solidFill>
          <a:ln w="25400">
            <a:solidFill>
              <a:srgbClr val="3776AB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051560"/>
            <a:ext cx="548640" cy="1783080"/>
          </a:xfrm>
          <a:prstGeom prst="rect">
            <a:avLst/>
          </a:prstGeom>
          <a:solidFill>
            <a:srgbClr val="3776AB"/>
          </a:solidFill>
          <a:ln w="12700">
            <a:solidFill>
              <a:srgbClr val="3776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16002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🐍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96112" y="1143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 3.13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15087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language. Used for all modules — environment, MDP solver, agent, and utilities. Clean object-oriented design.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9611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794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OOP  •  Modules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051560"/>
            <a:ext cx="2788920" cy="1783080"/>
          </a:xfrm>
          <a:prstGeom prst="rect">
            <a:avLst/>
          </a:prstGeom>
          <a:solidFill>
            <a:srgbClr val="2D1200"/>
          </a:solidFill>
          <a:ln w="25400">
            <a:solidFill>
              <a:srgbClr val="013243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051560"/>
            <a:ext cx="548640" cy="1783080"/>
          </a:xfrm>
          <a:prstGeom prst="rect">
            <a:avLst/>
          </a:prstGeom>
          <a:solidFill>
            <a:srgbClr val="013243"/>
          </a:solidFill>
          <a:ln w="12700">
            <a:solidFill>
              <a:srgbClr val="0132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16002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🔢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822192" y="1143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NumPy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822192" y="15087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 the grid as a 2D numpy array. Used for value matrix, policy matrix, and all numerical computations.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2219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794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np.zeros  •  np.copy  •  np.argmax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126480" y="1051560"/>
            <a:ext cx="2788920" cy="1783080"/>
          </a:xfrm>
          <a:prstGeom prst="rect">
            <a:avLst/>
          </a:prstGeom>
          <a:solidFill>
            <a:srgbClr val="2D1200"/>
          </a:solidFill>
          <a:ln w="25400">
            <a:solidFill>
              <a:srgbClr val="11557C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26480" y="1051560"/>
            <a:ext cx="548640" cy="1783080"/>
          </a:xfrm>
          <a:prstGeom prst="rect">
            <a:avLst/>
          </a:prstGeom>
          <a:solidFill>
            <a:srgbClr val="11557C"/>
          </a:solidFill>
          <a:ln w="12700">
            <a:solidFill>
              <a:srgbClr val="1155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160020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📊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748272" y="114300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Matplotlib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748272" y="150876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the grid world visually — heatmaps of value functions and arrow overlays showing the optimal policy.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748272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794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Heatmap  •  Policy Arrows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971800"/>
            <a:ext cx="2788920" cy="1783080"/>
          </a:xfrm>
          <a:prstGeom prst="rect">
            <a:avLst/>
          </a:prstGeom>
          <a:solidFill>
            <a:srgbClr val="2D1200"/>
          </a:solidFill>
          <a:ln w="25400">
            <a:solidFill>
              <a:srgbClr val="F05032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274320" y="2971800"/>
            <a:ext cx="548640" cy="1783080"/>
          </a:xfrm>
          <a:prstGeom prst="rect">
            <a:avLst/>
          </a:prstGeom>
          <a:solidFill>
            <a:srgbClr val="F05032"/>
          </a:solidFill>
          <a:ln w="12700">
            <a:solidFill>
              <a:srgbClr val="F050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352044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🗂️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96112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96112" y="34290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control for tracking changes. Commit history shows feature additions and bug fixes over development time.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96112" y="4389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794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 Control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0" y="2971800"/>
            <a:ext cx="2788920" cy="1783080"/>
          </a:xfrm>
          <a:prstGeom prst="rect">
            <a:avLst/>
          </a:prstGeom>
          <a:solidFill>
            <a:srgbClr val="2D1200"/>
          </a:solidFill>
          <a:ln w="25400">
            <a:solidFill>
              <a:srgbClr val="2D5016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0" y="2971800"/>
            <a:ext cx="548640" cy="1783080"/>
          </a:xfrm>
          <a:prstGeom prst="rect">
            <a:avLst/>
          </a:prstGeom>
          <a:solidFill>
            <a:srgbClr val="2D5016"/>
          </a:solidFill>
          <a:ln w="12700">
            <a:solidFill>
              <a:srgbClr val="2D501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00400" y="352044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📋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3822192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Custom Config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3822192" y="34290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config.py serves as the single source of truth for all hyperparameters: grid size, actions, γ, and all reward values.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22192" y="4389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794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GRID_SIZE=10  •  GAMMA=0.9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126480" y="2971800"/>
            <a:ext cx="2788920" cy="1783080"/>
          </a:xfrm>
          <a:prstGeom prst="rect">
            <a:avLst/>
          </a:prstGeom>
          <a:solidFill>
            <a:srgbClr val="2D1200"/>
          </a:solidFill>
          <a:ln w="25400">
            <a:solidFill>
              <a:srgbClr val="6B2D6B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126480" y="2971800"/>
            <a:ext cx="548640" cy="1783080"/>
          </a:xfrm>
          <a:prstGeom prst="rect">
            <a:avLst/>
          </a:prstGeom>
          <a:solidFill>
            <a:srgbClr val="6B2D6B"/>
          </a:solidFill>
          <a:ln w="12700">
            <a:solidFill>
              <a:srgbClr val="6B2D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0" y="352044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00000"/>
                </a:solidFill>
              </a:rPr>
              <a:t>🤖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748272" y="3063240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MDP Framework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6748272" y="3429000"/>
            <a:ext cx="21031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framework (States, Actions, Transitions, Rewards, Discount) implemented from scratch in Python.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748272" y="43891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794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 Iteration  •  Bellman Eq.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0" y="0"/>
            <a:ext cx="4572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0" y="7315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2468880" cy="1005840"/>
          </a:xfrm>
          <a:prstGeom prst="rect">
            <a:avLst/>
          </a:prstGeom>
          <a:solidFill>
            <a:srgbClr val="013243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11480" y="12344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config.py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16184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GRID_SIZE, ACTIONS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GAMMA, REWARDS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143000"/>
            <a:ext cx="2468880" cy="1005840"/>
          </a:xfrm>
          <a:prstGeom prst="rect">
            <a:avLst/>
          </a:prstGeom>
          <a:solidFill>
            <a:srgbClr val="3776AB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12344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🌋  environment/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429000" y="16184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grid_world.py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hazards.py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355080" y="1143000"/>
            <a:ext cx="2468880" cy="1005840"/>
          </a:xfrm>
          <a:prstGeom prst="rect">
            <a:avLst/>
          </a:prstGeom>
          <a:solidFill>
            <a:srgbClr val="2D5016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46520" y="12344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 agent/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46520" y="16184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explorer.py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(robot logic)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2971800"/>
            <a:ext cx="2468880" cy="1005840"/>
          </a:xfrm>
          <a:prstGeom prst="rect">
            <a:avLst/>
          </a:prstGeom>
          <a:solidFill>
            <a:srgbClr val="6B2D6B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11480" y="3063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🔢  mdp/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34472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mdp_solver.py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Iteration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337560" y="2971800"/>
            <a:ext cx="2468880" cy="1005840"/>
          </a:xfrm>
          <a:prstGeom prst="rect">
            <a:avLst/>
          </a:prstGeom>
          <a:solidFill>
            <a:srgbClr val="8B40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29000" y="3063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▶️  main.py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429000" y="34472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all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55080" y="2971800"/>
            <a:ext cx="2468880" cy="1005840"/>
          </a:xfrm>
          <a:prstGeom prst="rect">
            <a:avLst/>
          </a:prstGeom>
          <a:solidFill>
            <a:srgbClr val="11557C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46520" y="3063240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utils/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46520" y="3447288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visualization.py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&amp; policy render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788920" y="1645920"/>
            <a:ext cx="548640" cy="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06440" y="1645920"/>
            <a:ext cx="548640" cy="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88920" y="3474720"/>
            <a:ext cx="548640" cy="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806440" y="3474720"/>
            <a:ext cx="548640" cy="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4480" y="2148840"/>
            <a:ext cx="0" cy="82296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0" y="2148840"/>
            <a:ext cx="0" cy="82296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89520" y="2148840"/>
            <a:ext cx="0" cy="822960"/>
          </a:xfrm>
          <a:prstGeom prst="line">
            <a:avLst/>
          </a:prstGeom>
          <a:noFill/>
          <a:ln w="25400">
            <a:solidFill>
              <a:srgbClr val="E8510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4160520"/>
            <a:ext cx="8503920" cy="777240"/>
          </a:xfrm>
          <a:prstGeom prst="rect">
            <a:avLst/>
          </a:prstGeom>
          <a:solidFill>
            <a:srgbClr val="1A0A00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7200" y="4206240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794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Flow:  config.py  →  environment  →  mdp_solver  →  agent  →  visualization  (via main.py)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IMPLEMENTATION DETAILS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503920" y="73152"/>
            <a:ext cx="5486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1051560"/>
            <a:ext cx="4572000" cy="3017520"/>
          </a:xfrm>
          <a:prstGeom prst="rect">
            <a:avLst/>
          </a:prstGeom>
          <a:solidFill>
            <a:srgbClr val="0D0500"/>
          </a:solidFill>
          <a:ln w="19050">
            <a:solidFill>
              <a:srgbClr val="F7941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15568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🔑  MDPSolver — Value Iteration Core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438912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value_iteration(self, iterations=100):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_ in range(iterations):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new_V = np.copy(self.V)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x in range(self.env.size):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for y in range(self.env.size):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 = []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a in range(len(ACTIONS)):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nx, ny = self.get_next_state(x,y,a)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reward = self.env.get_cell(nx, ny)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values.append(reward+GAMMA*self.V[nx][ny])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new_V[x][y] = max(values)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self.policy[x][y] = np.argmax(values)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self.V = new_V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self.V, self.policy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74920" y="1051560"/>
            <a:ext cx="3749040" cy="2194560"/>
          </a:xfrm>
          <a:prstGeom prst="rect">
            <a:avLst/>
          </a:prstGeom>
          <a:solidFill>
            <a:srgbClr val="0D0500"/>
          </a:solidFill>
          <a:ln w="19050">
            <a:solidFill>
              <a:srgbClr val="F7941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212080" y="111556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Reward Configuration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12080" y="1463040"/>
            <a:ext cx="34747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REWARDS =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'new_area':      +10,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'sample_collect':+20,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'goal':         +100,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'step':           -1,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'gas':           -10,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'lava_close':    -30,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'crater':       -100,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74920" y="3337560"/>
            <a:ext cx="3749040" cy="1732788"/>
          </a:xfrm>
          <a:prstGeom prst="rect">
            <a:avLst/>
          </a:prstGeom>
          <a:solidFill>
            <a:srgbClr val="0D0500"/>
          </a:solidFill>
          <a:ln w="19050">
            <a:solidFill>
              <a:srgbClr val="F794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12080" y="34015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🌋  GridWorld class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212080" y="3703320"/>
            <a:ext cx="3474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GridWorld: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__init__(self):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self.size = GRID_SIZE  # 10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self.grid = np.zeros((10,10))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 is_valid(self, x, y):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0&lt;=x&lt;self.size and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0EE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0&lt;=y&lt;self.size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3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0A00"/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73152"/>
            <a:ext cx="77724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OUTPUT / RESULTS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686800" y="0"/>
            <a:ext cx="457200" cy="91440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0" y="73152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420624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115568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0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📊  Value Map (V-function)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457200" cy="301752"/>
          </a:xfrm>
          <a:prstGeom prst="rect">
            <a:avLst/>
          </a:prstGeom>
          <a:solidFill>
            <a:srgbClr val="8B00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2688" y="1508760"/>
            <a:ext cx="457200" cy="301752"/>
          </a:xfrm>
          <a:prstGeom prst="rect">
            <a:avLst/>
          </a:prstGeom>
          <a:solidFill>
            <a:srgbClr val="8B00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08176" y="1508760"/>
            <a:ext cx="457200" cy="301752"/>
          </a:xfrm>
          <a:prstGeom prst="rect">
            <a:avLst/>
          </a:prstGeom>
          <a:solidFill>
            <a:srgbClr val="8B00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83664" y="1508760"/>
            <a:ext cx="457200" cy="301752"/>
          </a:xfrm>
          <a:prstGeom prst="rect">
            <a:avLst/>
          </a:prstGeom>
          <a:solidFill>
            <a:srgbClr val="8B00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59152" y="1508760"/>
            <a:ext cx="457200" cy="301752"/>
          </a:xfrm>
          <a:prstGeom prst="rect">
            <a:avLst/>
          </a:prstGeom>
          <a:solidFill>
            <a:srgbClr val="A52A2A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34640" y="1508760"/>
            <a:ext cx="457200" cy="301752"/>
          </a:xfrm>
          <a:prstGeom prst="rect">
            <a:avLst/>
          </a:prstGeom>
          <a:solidFill>
            <a:srgbClr val="A52A2A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0128" y="1508760"/>
            <a:ext cx="457200" cy="301752"/>
          </a:xfrm>
          <a:prstGeom prst="rect">
            <a:avLst/>
          </a:prstGeom>
          <a:solidFill>
            <a:srgbClr val="A52A2A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85616" y="1508760"/>
            <a:ext cx="457200" cy="301752"/>
          </a:xfrm>
          <a:prstGeom prst="rect">
            <a:avLst/>
          </a:prstGeom>
          <a:solidFill>
            <a:srgbClr val="A52A2A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1828800"/>
            <a:ext cx="457200" cy="301752"/>
          </a:xfrm>
          <a:prstGeom prst="rect">
            <a:avLst/>
          </a:prstGeom>
          <a:solidFill>
            <a:srgbClr val="CD853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1828800"/>
            <a:ext cx="457200" cy="301752"/>
          </a:xfrm>
          <a:prstGeom prst="rect">
            <a:avLst/>
          </a:prstGeom>
          <a:solidFill>
            <a:srgbClr val="CD853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08176" y="1828800"/>
            <a:ext cx="457200" cy="301752"/>
          </a:xfrm>
          <a:prstGeom prst="rect">
            <a:avLst/>
          </a:prstGeom>
          <a:solidFill>
            <a:srgbClr val="CD853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83664" y="1828800"/>
            <a:ext cx="457200" cy="301752"/>
          </a:xfrm>
          <a:prstGeom prst="rect">
            <a:avLst/>
          </a:prstGeom>
          <a:solidFill>
            <a:srgbClr val="CD853F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59152" y="1828800"/>
            <a:ext cx="457200" cy="301752"/>
          </a:xfrm>
          <a:prstGeom prst="rect">
            <a:avLst/>
          </a:prstGeom>
          <a:solidFill>
            <a:srgbClr val="DEB88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34640" y="1828800"/>
            <a:ext cx="457200" cy="301752"/>
          </a:xfrm>
          <a:prstGeom prst="rect">
            <a:avLst/>
          </a:prstGeom>
          <a:solidFill>
            <a:srgbClr val="DEB88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10128" y="1828800"/>
            <a:ext cx="457200" cy="301752"/>
          </a:xfrm>
          <a:prstGeom prst="rect">
            <a:avLst/>
          </a:prstGeom>
          <a:solidFill>
            <a:srgbClr val="DEB88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85616" y="1828800"/>
            <a:ext cx="457200" cy="301752"/>
          </a:xfrm>
          <a:prstGeom prst="rect">
            <a:avLst/>
          </a:prstGeom>
          <a:solidFill>
            <a:srgbClr val="DEB887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2148840"/>
            <a:ext cx="457200" cy="301752"/>
          </a:xfrm>
          <a:prstGeom prst="rect">
            <a:avLst/>
          </a:prstGeom>
          <a:solidFill>
            <a:srgbClr val="F0E68C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2148840"/>
            <a:ext cx="457200" cy="301752"/>
          </a:xfrm>
          <a:prstGeom prst="rect">
            <a:avLst/>
          </a:prstGeom>
          <a:solidFill>
            <a:srgbClr val="F0E68C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08176" y="2148840"/>
            <a:ext cx="457200" cy="301752"/>
          </a:xfrm>
          <a:prstGeom prst="rect">
            <a:avLst/>
          </a:prstGeom>
          <a:solidFill>
            <a:srgbClr val="F0E68C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83664" y="2148840"/>
            <a:ext cx="457200" cy="301752"/>
          </a:xfrm>
          <a:prstGeom prst="rect">
            <a:avLst/>
          </a:prstGeom>
          <a:solidFill>
            <a:srgbClr val="F0E68C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9152" y="2148840"/>
            <a:ext cx="457200" cy="301752"/>
          </a:xfrm>
          <a:prstGeom prst="rect">
            <a:avLst/>
          </a:prstGeom>
          <a:solidFill>
            <a:srgbClr val="90EE9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34640" y="2148840"/>
            <a:ext cx="457200" cy="301752"/>
          </a:xfrm>
          <a:prstGeom prst="rect">
            <a:avLst/>
          </a:prstGeom>
          <a:solidFill>
            <a:srgbClr val="90EE9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10128" y="2148840"/>
            <a:ext cx="457200" cy="301752"/>
          </a:xfrm>
          <a:prstGeom prst="rect">
            <a:avLst/>
          </a:prstGeom>
          <a:solidFill>
            <a:srgbClr val="90EE9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85616" y="2148840"/>
            <a:ext cx="457200" cy="301752"/>
          </a:xfrm>
          <a:prstGeom prst="rect">
            <a:avLst/>
          </a:prstGeom>
          <a:solidFill>
            <a:srgbClr val="90EE9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468880"/>
            <a:ext cx="457200" cy="301752"/>
          </a:xfrm>
          <a:prstGeom prst="rect">
            <a:avLst/>
          </a:prstGeom>
          <a:solidFill>
            <a:srgbClr val="3CB37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32688" y="2468880"/>
            <a:ext cx="457200" cy="301752"/>
          </a:xfrm>
          <a:prstGeom prst="rect">
            <a:avLst/>
          </a:prstGeom>
          <a:solidFill>
            <a:srgbClr val="3CB37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08176" y="2468880"/>
            <a:ext cx="457200" cy="301752"/>
          </a:xfrm>
          <a:prstGeom prst="rect">
            <a:avLst/>
          </a:prstGeom>
          <a:solidFill>
            <a:srgbClr val="3CB37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883664" y="2468880"/>
            <a:ext cx="457200" cy="301752"/>
          </a:xfrm>
          <a:prstGeom prst="rect">
            <a:avLst/>
          </a:prstGeom>
          <a:solidFill>
            <a:srgbClr val="3CB371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9152" y="2468880"/>
            <a:ext cx="457200" cy="301752"/>
          </a:xfrm>
          <a:prstGeom prst="rect">
            <a:avLst/>
          </a:prstGeom>
          <a:solidFill>
            <a:srgbClr val="0064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34640" y="2468880"/>
            <a:ext cx="457200" cy="301752"/>
          </a:xfrm>
          <a:prstGeom prst="rect">
            <a:avLst/>
          </a:prstGeom>
          <a:solidFill>
            <a:srgbClr val="0064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10128" y="2468880"/>
            <a:ext cx="457200" cy="301752"/>
          </a:xfrm>
          <a:prstGeom prst="rect">
            <a:avLst/>
          </a:prstGeom>
          <a:solidFill>
            <a:srgbClr val="0064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85616" y="2468880"/>
            <a:ext cx="457200" cy="301752"/>
          </a:xfrm>
          <a:prstGeom prst="rect">
            <a:avLst/>
          </a:prstGeom>
          <a:solidFill>
            <a:srgbClr val="006400"/>
          </a:solidFill>
          <a:ln w="381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7200" y="281635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low value (danger)   →   Green = high value (goal)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663440" y="1051560"/>
            <a:ext cx="4160520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F7941D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800600" y="111556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A0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🧭  Policy Map (Arrow Grid)</a:t>
            </a: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4800600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00600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5266944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66944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5733288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33288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6199632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199632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6665976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5976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7132320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32320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>
            <a:off x="7598664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598664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8065008" y="150876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65008" y="150876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59" name="Shape 57"/>
          <p:cNvSpPr/>
          <p:nvPr/>
        </p:nvSpPr>
        <p:spPr>
          <a:xfrm>
            <a:off x="4800600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00600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5266944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66944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5733288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33288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199632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199632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>
            <a:off x="6665976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665976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69" name="Shape 67"/>
          <p:cNvSpPr/>
          <p:nvPr/>
        </p:nvSpPr>
        <p:spPr>
          <a:xfrm>
            <a:off x="7132320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132320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71" name="Shape 69"/>
          <p:cNvSpPr/>
          <p:nvPr/>
        </p:nvSpPr>
        <p:spPr>
          <a:xfrm>
            <a:off x="7598664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7598664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73" name="Shape 71"/>
          <p:cNvSpPr/>
          <p:nvPr/>
        </p:nvSpPr>
        <p:spPr>
          <a:xfrm>
            <a:off x="8065008" y="182880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065008" y="182880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75" name="Shape 73"/>
          <p:cNvSpPr/>
          <p:nvPr/>
        </p:nvSpPr>
        <p:spPr>
          <a:xfrm>
            <a:off x="4800600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77" name="Shape 75"/>
          <p:cNvSpPr/>
          <p:nvPr/>
        </p:nvSpPr>
        <p:spPr>
          <a:xfrm>
            <a:off x="5266944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5266944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79" name="Shape 77"/>
          <p:cNvSpPr/>
          <p:nvPr/>
        </p:nvSpPr>
        <p:spPr>
          <a:xfrm>
            <a:off x="5733288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733288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81" name="Shape 79"/>
          <p:cNvSpPr/>
          <p:nvPr/>
        </p:nvSpPr>
        <p:spPr>
          <a:xfrm>
            <a:off x="6199632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99632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83" name="Shape 81"/>
          <p:cNvSpPr/>
          <p:nvPr/>
        </p:nvSpPr>
        <p:spPr>
          <a:xfrm>
            <a:off x="6665976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665976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85" name="Shape 83"/>
          <p:cNvSpPr/>
          <p:nvPr/>
        </p:nvSpPr>
        <p:spPr>
          <a:xfrm>
            <a:off x="7132320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32320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87" name="Shape 85"/>
          <p:cNvSpPr/>
          <p:nvPr/>
        </p:nvSpPr>
        <p:spPr>
          <a:xfrm>
            <a:off x="7598664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598664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89" name="Shape 87"/>
          <p:cNvSpPr/>
          <p:nvPr/>
        </p:nvSpPr>
        <p:spPr>
          <a:xfrm>
            <a:off x="8065008" y="214884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65008" y="214884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91" name="Shape 89"/>
          <p:cNvSpPr/>
          <p:nvPr/>
        </p:nvSpPr>
        <p:spPr>
          <a:xfrm>
            <a:off x="4800600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800600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93" name="Shape 91"/>
          <p:cNvSpPr/>
          <p:nvPr/>
        </p:nvSpPr>
        <p:spPr>
          <a:xfrm>
            <a:off x="5266944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266944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95" name="Shape 93"/>
          <p:cNvSpPr/>
          <p:nvPr/>
        </p:nvSpPr>
        <p:spPr>
          <a:xfrm>
            <a:off x="5733288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733288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97" name="Shape 95"/>
          <p:cNvSpPr/>
          <p:nvPr/>
        </p:nvSpPr>
        <p:spPr>
          <a:xfrm>
            <a:off x="6199632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199632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99" name="Shape 97"/>
          <p:cNvSpPr/>
          <p:nvPr/>
        </p:nvSpPr>
        <p:spPr>
          <a:xfrm>
            <a:off x="6665976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6665976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←</a:t>
            </a:r>
            <a:endParaRPr lang="en-US" sz="1600" dirty="0"/>
          </a:p>
        </p:txBody>
      </p:sp>
      <p:sp>
        <p:nvSpPr>
          <p:cNvPr id="101" name="Shape 99"/>
          <p:cNvSpPr/>
          <p:nvPr/>
        </p:nvSpPr>
        <p:spPr>
          <a:xfrm>
            <a:off x="7132320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132320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↑</a:t>
            </a:r>
            <a:endParaRPr lang="en-US" sz="1600" dirty="0"/>
          </a:p>
        </p:txBody>
      </p:sp>
      <p:sp>
        <p:nvSpPr>
          <p:cNvPr id="103" name="Shape 101"/>
          <p:cNvSpPr/>
          <p:nvPr/>
        </p:nvSpPr>
        <p:spPr>
          <a:xfrm>
            <a:off x="7598664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598664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→</a:t>
            </a:r>
            <a:endParaRPr lang="en-US" sz="1600" dirty="0"/>
          </a:p>
        </p:txBody>
      </p:sp>
      <p:sp>
        <p:nvSpPr>
          <p:cNvPr id="105" name="Shape 103"/>
          <p:cNvSpPr/>
          <p:nvPr/>
        </p:nvSpPr>
        <p:spPr>
          <a:xfrm>
            <a:off x="8065008" y="2468880"/>
            <a:ext cx="448056" cy="301752"/>
          </a:xfrm>
          <a:prstGeom prst="rect">
            <a:avLst/>
          </a:prstGeom>
          <a:solidFill>
            <a:srgbClr val="E8D5B0"/>
          </a:solidFill>
          <a:ln w="3810">
            <a:solidFill>
              <a:srgbClr val="C8A07A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065008" y="2468880"/>
            <a:ext cx="448056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8510A"/>
                </a:solidFill>
              </a:rPr>
              <a:t>↓</a:t>
            </a:r>
            <a:endParaRPr lang="en-US" sz="1600" dirty="0"/>
          </a:p>
        </p:txBody>
      </p:sp>
      <p:sp>
        <p:nvSpPr>
          <p:cNvPr id="107" name="Text 105"/>
          <p:cNvSpPr/>
          <p:nvPr/>
        </p:nvSpPr>
        <p:spPr>
          <a:xfrm>
            <a:off x="4800600" y="28163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D3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arrow = best action for that cell</a:t>
            </a:r>
            <a:endParaRPr lang="en-US" sz="1200" dirty="0"/>
          </a:p>
        </p:txBody>
      </p:sp>
      <p:sp>
        <p:nvSpPr>
          <p:cNvPr id="108" name="Shape 106"/>
          <p:cNvSpPr/>
          <p:nvPr/>
        </p:nvSpPr>
        <p:spPr>
          <a:xfrm>
            <a:off x="320040" y="3246120"/>
            <a:ext cx="2057400" cy="1600200"/>
          </a:xfrm>
          <a:prstGeom prst="rect">
            <a:avLst/>
          </a:prstGeom>
          <a:solidFill>
            <a:srgbClr val="1A0A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9" name="Text 107"/>
          <p:cNvSpPr/>
          <p:nvPr/>
        </p:nvSpPr>
        <p:spPr>
          <a:xfrm>
            <a:off x="320040" y="3337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🏆</a:t>
            </a:r>
            <a:endParaRPr lang="en-US" sz="2800" dirty="0"/>
          </a:p>
        </p:txBody>
      </p:sp>
      <p:sp>
        <p:nvSpPr>
          <p:cNvPr id="110" name="Text 108"/>
          <p:cNvSpPr/>
          <p:nvPr/>
        </p:nvSpPr>
        <p:spPr>
          <a:xfrm>
            <a:off x="411480" y="3776472"/>
            <a:ext cx="1901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Optimal Policy</a:t>
            </a:r>
            <a:endParaRPr lang="en-US" sz="1600" dirty="0"/>
          </a:p>
        </p:txBody>
      </p:sp>
      <p:sp>
        <p:nvSpPr>
          <p:cNvPr id="111" name="Text 109"/>
          <p:cNvSpPr/>
          <p:nvPr/>
        </p:nvSpPr>
        <p:spPr>
          <a:xfrm>
            <a:off x="411480" y="4087368"/>
            <a:ext cx="1901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table telling the robot the best move from every single cell (100 decisions).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2496312" y="3246120"/>
            <a:ext cx="2057400" cy="1600200"/>
          </a:xfrm>
          <a:prstGeom prst="rect">
            <a:avLst/>
          </a:prstGeom>
          <a:solidFill>
            <a:srgbClr val="1A0A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3" name="Text 111"/>
          <p:cNvSpPr/>
          <p:nvPr/>
        </p:nvSpPr>
        <p:spPr>
          <a:xfrm>
            <a:off x="2496312" y="3337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📈</a:t>
            </a:r>
            <a:endParaRPr lang="en-US" sz="2800" dirty="0"/>
          </a:p>
        </p:txBody>
      </p:sp>
      <p:sp>
        <p:nvSpPr>
          <p:cNvPr id="114" name="Text 112"/>
          <p:cNvSpPr/>
          <p:nvPr/>
        </p:nvSpPr>
        <p:spPr>
          <a:xfrm>
            <a:off x="2587752" y="3776472"/>
            <a:ext cx="1901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Value Function</a:t>
            </a:r>
            <a:endParaRPr lang="en-US" sz="1600" dirty="0"/>
          </a:p>
        </p:txBody>
      </p:sp>
      <p:sp>
        <p:nvSpPr>
          <p:cNvPr id="115" name="Text 113"/>
          <p:cNvSpPr/>
          <p:nvPr/>
        </p:nvSpPr>
        <p:spPr>
          <a:xfrm>
            <a:off x="2587752" y="4087368"/>
            <a:ext cx="1901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for every cell showing long-term expected reward from that position.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72584" y="3246120"/>
            <a:ext cx="2057400" cy="1600200"/>
          </a:xfrm>
          <a:prstGeom prst="rect">
            <a:avLst/>
          </a:prstGeom>
          <a:solidFill>
            <a:srgbClr val="1A0A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7" name="Text 115"/>
          <p:cNvSpPr/>
          <p:nvPr/>
        </p:nvSpPr>
        <p:spPr>
          <a:xfrm>
            <a:off x="4672584" y="3337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🛡️</a:t>
            </a:r>
            <a:endParaRPr lang="en-US" sz="2800" dirty="0"/>
          </a:p>
        </p:txBody>
      </p:sp>
      <p:sp>
        <p:nvSpPr>
          <p:cNvPr id="118" name="Text 116"/>
          <p:cNvSpPr/>
          <p:nvPr/>
        </p:nvSpPr>
        <p:spPr>
          <a:xfrm>
            <a:off x="4764024" y="3776472"/>
            <a:ext cx="1901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Safe Navigation</a:t>
            </a:r>
            <a:endParaRPr lang="en-US" sz="1600" dirty="0"/>
          </a:p>
        </p:txBody>
      </p:sp>
      <p:sp>
        <p:nvSpPr>
          <p:cNvPr id="119" name="Text 117"/>
          <p:cNvSpPr/>
          <p:nvPr/>
        </p:nvSpPr>
        <p:spPr>
          <a:xfrm>
            <a:off x="4764024" y="4087368"/>
            <a:ext cx="1901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learns to avoid craters (−100) and lava zones (−30) automatically.</a:t>
            </a:r>
            <a:endParaRPr lang="en-US" sz="1200" dirty="0"/>
          </a:p>
        </p:txBody>
      </p:sp>
      <p:sp>
        <p:nvSpPr>
          <p:cNvPr id="120" name="Shape 118"/>
          <p:cNvSpPr/>
          <p:nvPr/>
        </p:nvSpPr>
        <p:spPr>
          <a:xfrm>
            <a:off x="6848856" y="3246120"/>
            <a:ext cx="2057400" cy="1600200"/>
          </a:xfrm>
          <a:prstGeom prst="rect">
            <a:avLst/>
          </a:prstGeom>
          <a:solidFill>
            <a:srgbClr val="1A0A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1" name="Text 119"/>
          <p:cNvSpPr/>
          <p:nvPr/>
        </p:nvSpPr>
        <p:spPr>
          <a:xfrm>
            <a:off x="6848856" y="3337560"/>
            <a:ext cx="2057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22" name="Text 120"/>
          <p:cNvSpPr/>
          <p:nvPr/>
        </p:nvSpPr>
        <p:spPr>
          <a:xfrm>
            <a:off x="6940296" y="3776472"/>
            <a:ext cx="1901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Goal Achievement</a:t>
            </a:r>
            <a:endParaRPr lang="en-US" sz="1600" dirty="0"/>
          </a:p>
        </p:txBody>
      </p:sp>
      <p:sp>
        <p:nvSpPr>
          <p:cNvPr id="123" name="Text 121"/>
          <p:cNvSpPr/>
          <p:nvPr/>
        </p:nvSpPr>
        <p:spPr>
          <a:xfrm>
            <a:off x="6940296" y="4087368"/>
            <a:ext cx="190195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finds the shortest safe path to the +100 goal from any starting cell.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0A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" y="81408"/>
            <a:ext cx="4572000" cy="4572000"/>
          </a:xfrm>
          <a:prstGeom prst="ellipse">
            <a:avLst/>
          </a:prstGeom>
          <a:solidFill>
            <a:srgbClr val="FF4500">
              <a:alpha val="18000"/>
            </a:srgbClr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0" y="40332"/>
            <a:ext cx="3657600" cy="3657600"/>
          </a:xfrm>
          <a:prstGeom prst="ellipse">
            <a:avLst/>
          </a:prstGeom>
          <a:solidFill>
            <a:srgbClr val="E8510A">
              <a:alpha val="20000"/>
            </a:srgbClr>
          </a:solidFill>
          <a:ln w="12700">
            <a:solidFill>
              <a:srgbClr val="1A0A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56264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2286000" y="887784"/>
            <a:ext cx="4572000" cy="45720"/>
          </a:xfrm>
          <a:prstGeom prst="rect">
            <a:avLst/>
          </a:prstGeom>
          <a:solidFill>
            <a:srgbClr val="E8510A"/>
          </a:solidFill>
          <a:ln w="12700">
            <a:solidFill>
              <a:srgbClr val="E8510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043232"/>
            <a:ext cx="8412480" cy="658368"/>
          </a:xfrm>
          <a:prstGeom prst="rect">
            <a:avLst/>
          </a:prstGeom>
          <a:solidFill>
            <a:srgbClr val="2D1200"/>
          </a:solidFill>
          <a:ln w="19050">
            <a:solidFill>
              <a:srgbClr val="FF4500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3232"/>
            <a:ext cx="91440" cy="658368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7980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🌋  Real-World Problem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00400" y="1079808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 a realistic robot navigation challenge on a hazardous volcano using AI.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774752"/>
            <a:ext cx="8412480" cy="658368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1774752"/>
            <a:ext cx="91440" cy="658368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81132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📐  MDP Foundation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200400" y="1811328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Formally defined the problem using MDP — a proven mathematical framework for sequential decision-making.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506272"/>
            <a:ext cx="8412480" cy="658368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2506272"/>
            <a:ext cx="91440" cy="658368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54284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Value Iteration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00400" y="2542848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the Bellman-based Value Iteration algorithm that converges to the optimal policy.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3237792"/>
            <a:ext cx="8412480" cy="658368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" y="3237792"/>
            <a:ext cx="91440" cy="658368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27436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Smart Decisions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00400" y="3274368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robot learns to prioritize safety and efficiency — avoiding dangers, collecting samples, reaching goals.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969312"/>
            <a:ext cx="8412480" cy="658368"/>
          </a:xfrm>
          <a:prstGeom prst="rect">
            <a:avLst/>
          </a:prstGeom>
          <a:solidFill>
            <a:srgbClr val="2D1200"/>
          </a:solidFill>
          <a:ln w="19050">
            <a:solidFill>
              <a:srgbClr val="E8510A"/>
            </a:solidFill>
            <a:prstDash val="solid"/>
          </a:ln>
          <a:effectLst>
            <a:outerShdw blurRad="101600" dist="38100" dir="162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65760" y="3969312"/>
            <a:ext cx="91440" cy="658368"/>
          </a:xfrm>
          <a:prstGeom prst="rect">
            <a:avLst/>
          </a:prstGeom>
          <a:solidFill>
            <a:srgbClr val="F7941D"/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4005888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7941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🔧  Modular &amp; Extensible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00400" y="4005888"/>
            <a:ext cx="5486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 codebase can easily be extended: add new hazards, change grid size, or try new reward functions.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357950" y="4743001"/>
            <a:ext cx="7198774" cy="317930"/>
          </a:xfrm>
          <a:prstGeom prst="rect">
            <a:avLst/>
          </a:prstGeom>
          <a:solidFill>
            <a:srgbClr val="E8510A">
              <a:alpha val="80000"/>
            </a:srgbClr>
          </a:solidFill>
          <a:ln w="12700">
            <a:solidFill>
              <a:srgbClr val="F794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599" y="4619289"/>
            <a:ext cx="7021773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600" b="1" dirty="0">
              <a:solidFill>
                <a:srgbClr val="FFFFFF"/>
              </a:solidFill>
              <a:latin typeface="Trebuchet MS" pitchFamily="34" charset="0"/>
              <a:ea typeface="Trebuchet MS" pitchFamily="34" charset="-122"/>
              <a:cs typeface="Trebuchet MS" pitchFamily="34" charset="-120"/>
            </a:endParaRPr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Volcano MDP — Teaching a Robot to Think, Navigate &amp; Survive  🌋🤖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1546</Words>
  <Application>Microsoft Office PowerPoint</Application>
  <PresentationFormat>On-screen Show (16:9)</PresentationFormat>
  <Paragraphs>253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9" baseType="lpstr">
      <vt:lpstr>Arial</vt:lpstr>
      <vt:lpstr>Calibri</vt:lpstr>
      <vt:lpstr>Consolas</vt:lpstr>
      <vt:lpstr>inherit</vt:lpstr>
      <vt:lpstr>Segoe UI Historic</vt:lpstr>
      <vt:lpstr>Times New Roman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Volcano MDP — Robot Navigation Under Uncertainty</dc:title>
  <dc:subject>PptxGenJS Presentation</dc:subject>
  <dc:creator>Volcano MDP Project</dc:creator>
  <cp:lastModifiedBy>Tawhidul Islam</cp:lastModifiedBy>
  <cp:revision>5</cp:revision>
  <dcterms:created xsi:type="dcterms:W3CDTF">2026-04-27T18:09:33Z</dcterms:created>
  <dcterms:modified xsi:type="dcterms:W3CDTF">2026-04-27T18:44:00Z</dcterms:modified>
</cp:coreProperties>
</file>