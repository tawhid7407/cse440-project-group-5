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76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377440"/>
            <a:ext cx="2743200" cy="2743200"/>
          </a:xfrm>
          <a:prstGeom prst="ellipse">
            <a:avLst/>
          </a:prstGeom>
          <a:solidFill>
            <a:srgbClr val="FF4500">
              <a:alpha val="25000"/>
            </a:srgbClr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19524" y="0"/>
            <a:ext cx="3657600" cy="3657600"/>
          </a:xfrm>
          <a:prstGeom prst="ellipse">
            <a:avLst/>
          </a:prstGeom>
          <a:solidFill>
            <a:srgbClr val="E8510A">
              <a:alpha val="20000"/>
            </a:srgbClr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3200400"/>
            <a:ext cx="1828800" cy="1828800"/>
          </a:xfrm>
          <a:prstGeom prst="ellipse">
            <a:avLst/>
          </a:prstGeom>
          <a:solidFill>
            <a:srgbClr val="F7941D">
              <a:alpha val="30000"/>
            </a:srgbClr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109728" cy="2560320"/>
          </a:xfrm>
          <a:prstGeom prst="rect">
            <a:avLst/>
          </a:prstGeom>
          <a:solidFill>
            <a:srgbClr val="E8510A"/>
          </a:solidFill>
          <a:ln w="12700">
            <a:solidFill>
              <a:srgbClr val="E851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VOLCANO MDP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Navigation Under Uncertainty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5486400" cy="36576"/>
          </a:xfrm>
          <a:prstGeom prst="rect">
            <a:avLst/>
          </a:prstGeom>
          <a:solidFill>
            <a:srgbClr val="E8510A">
              <a:alpha val="60000"/>
            </a:srgbClr>
          </a:solidFill>
          <a:ln w="12700">
            <a:solidFill>
              <a:srgbClr val="E8510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Markov Decision Process  •  Value Iteration  •  Autonomous Agent  •  Python</a:t>
            </a:r>
            <a:endParaRPr lang="en-US" sz="1500" b="1" dirty="0">
              <a:solidFill>
                <a:schemeClr val="accent4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0" y="379823"/>
            <a:ext cx="448056" cy="448056"/>
          </a:xfrm>
          <a:prstGeom prst="rect">
            <a:avLst/>
          </a:prstGeom>
          <a:solidFill>
            <a:srgbClr val="2D1200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76288" y="379823"/>
            <a:ext cx="448056" cy="448056"/>
          </a:xfrm>
          <a:prstGeom prst="rect">
            <a:avLst/>
          </a:prstGeom>
          <a:solidFill>
            <a:srgbClr val="2D1200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51776" y="379823"/>
            <a:ext cx="448056" cy="448056"/>
          </a:xfrm>
          <a:prstGeom prst="rect">
            <a:avLst/>
          </a:prstGeom>
          <a:solidFill>
            <a:srgbClr val="FF4500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27264" y="379823"/>
            <a:ext cx="448056" cy="448056"/>
          </a:xfrm>
          <a:prstGeom prst="rect">
            <a:avLst/>
          </a:prstGeom>
          <a:solidFill>
            <a:srgbClr val="2D1200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02752" y="379823"/>
            <a:ext cx="448056" cy="448056"/>
          </a:xfrm>
          <a:prstGeom prst="rect">
            <a:avLst/>
          </a:prstGeom>
          <a:solidFill>
            <a:srgbClr val="2D1200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855311"/>
            <a:ext cx="448056" cy="448056"/>
          </a:xfrm>
          <a:prstGeom prst="rect">
            <a:avLst/>
          </a:prstGeom>
          <a:solidFill>
            <a:srgbClr val="2D1200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76288" y="855311"/>
            <a:ext cx="448056" cy="448056"/>
          </a:xfrm>
          <a:prstGeom prst="rect">
            <a:avLst/>
          </a:prstGeom>
          <a:solidFill>
            <a:srgbClr val="2ECC71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51776" y="855311"/>
            <a:ext cx="448056" cy="448056"/>
          </a:xfrm>
          <a:prstGeom prst="rect">
            <a:avLst/>
          </a:prstGeom>
          <a:solidFill>
            <a:srgbClr val="2D1200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27264" y="855311"/>
            <a:ext cx="448056" cy="448056"/>
          </a:xfrm>
          <a:prstGeom prst="rect">
            <a:avLst/>
          </a:prstGeom>
          <a:solidFill>
            <a:srgbClr val="FF4500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2752" y="855311"/>
            <a:ext cx="448056" cy="448056"/>
          </a:xfrm>
          <a:prstGeom prst="rect">
            <a:avLst/>
          </a:prstGeom>
          <a:solidFill>
            <a:srgbClr val="2D1200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330799"/>
            <a:ext cx="448056" cy="448056"/>
          </a:xfrm>
          <a:prstGeom prst="rect">
            <a:avLst/>
          </a:prstGeom>
          <a:solidFill>
            <a:srgbClr val="2D1200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76288" y="1330799"/>
            <a:ext cx="448056" cy="448056"/>
          </a:xfrm>
          <a:prstGeom prst="rect">
            <a:avLst/>
          </a:prstGeom>
          <a:solidFill>
            <a:srgbClr val="2D1200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51776" y="1330799"/>
            <a:ext cx="448056" cy="448056"/>
          </a:xfrm>
          <a:prstGeom prst="rect">
            <a:avLst/>
          </a:prstGeom>
          <a:solidFill>
            <a:srgbClr val="2D1200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27264" y="1330799"/>
            <a:ext cx="448056" cy="448056"/>
          </a:xfrm>
          <a:prstGeom prst="rect">
            <a:avLst/>
          </a:prstGeom>
          <a:solidFill>
            <a:srgbClr val="2D1200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02752" y="1330799"/>
            <a:ext cx="448056" cy="448056"/>
          </a:xfrm>
          <a:prstGeom prst="rect">
            <a:avLst/>
          </a:prstGeom>
          <a:solidFill>
            <a:srgbClr val="FF4500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1806287"/>
            <a:ext cx="448056" cy="448056"/>
          </a:xfrm>
          <a:prstGeom prst="rect">
            <a:avLst/>
          </a:prstGeom>
          <a:solidFill>
            <a:srgbClr val="2ECC71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76288" y="1806287"/>
            <a:ext cx="448056" cy="448056"/>
          </a:xfrm>
          <a:prstGeom prst="rect">
            <a:avLst/>
          </a:prstGeom>
          <a:solidFill>
            <a:srgbClr val="2D1200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51776" y="1806287"/>
            <a:ext cx="448056" cy="448056"/>
          </a:xfrm>
          <a:prstGeom prst="rect">
            <a:avLst/>
          </a:prstGeom>
          <a:solidFill>
            <a:srgbClr val="FFD700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27264" y="1806287"/>
            <a:ext cx="448056" cy="448056"/>
          </a:xfrm>
          <a:prstGeom prst="rect">
            <a:avLst/>
          </a:prstGeom>
          <a:solidFill>
            <a:srgbClr val="2D1200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02752" y="1806287"/>
            <a:ext cx="448056" cy="448056"/>
          </a:xfrm>
          <a:prstGeom prst="rect">
            <a:avLst/>
          </a:prstGeom>
          <a:solidFill>
            <a:srgbClr val="2D1200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2281775"/>
            <a:ext cx="448056" cy="448056"/>
          </a:xfrm>
          <a:prstGeom prst="rect">
            <a:avLst/>
          </a:prstGeom>
          <a:solidFill>
            <a:srgbClr val="2D1200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76288" y="2281775"/>
            <a:ext cx="448056" cy="448056"/>
          </a:xfrm>
          <a:prstGeom prst="rect">
            <a:avLst/>
          </a:prstGeom>
          <a:solidFill>
            <a:srgbClr val="2D1200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51776" y="2281775"/>
            <a:ext cx="448056" cy="448056"/>
          </a:xfrm>
          <a:prstGeom prst="rect">
            <a:avLst/>
          </a:prstGeom>
          <a:solidFill>
            <a:srgbClr val="2D1200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27264" y="2281775"/>
            <a:ext cx="448056" cy="448056"/>
          </a:xfrm>
          <a:prstGeom prst="rect">
            <a:avLst/>
          </a:prstGeom>
          <a:solidFill>
            <a:srgbClr val="2ECC71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02752" y="2281775"/>
            <a:ext cx="448056" cy="448056"/>
          </a:xfrm>
          <a:prstGeom prst="rect">
            <a:avLst/>
          </a:prstGeom>
          <a:solidFill>
            <a:srgbClr val="2D1200"/>
          </a:solidFill>
          <a:ln w="6350">
            <a:solidFill>
              <a:srgbClr val="3D1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379823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51776" y="1330799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⬛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3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Project  |  Python &amp; NumPy</a:t>
            </a:r>
            <a:endParaRPr lang="en-US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3D471D-3D3C-412B-84E2-848D48398F69}"/>
              </a:ext>
            </a:extLst>
          </p:cNvPr>
          <p:cNvSpPr txBox="1"/>
          <p:nvPr/>
        </p:nvSpPr>
        <p:spPr>
          <a:xfrm>
            <a:off x="147883" y="-32343"/>
            <a:ext cx="20633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CSE440-AI</a:t>
            </a:r>
          </a:p>
          <a:p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Group-5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6DF00F-B1B8-474C-867D-B47DD5053960}"/>
              </a:ext>
            </a:extLst>
          </p:cNvPr>
          <p:cNvSpPr txBox="1"/>
          <p:nvPr/>
        </p:nvSpPr>
        <p:spPr>
          <a:xfrm>
            <a:off x="0" y="3863000"/>
            <a:ext cx="908981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</a:t>
            </a:r>
          </a:p>
          <a:p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2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Towhidul</a:t>
            </a: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Islam-2212172042     3.</a:t>
            </a:r>
            <a:r>
              <a:rPr lang="en-US" sz="2200" i="0" dirty="0">
                <a:solidFill>
                  <a:srgbClr val="E2E5E9"/>
                </a:solidFill>
                <a:effectLst/>
                <a:latin typeface="Segoe UI Historic" panose="020B0502040204020203" pitchFamily="34" charset="0"/>
              </a:rPr>
              <a:t> </a:t>
            </a:r>
            <a:r>
              <a:rPr lang="en-US" sz="2200" i="0" dirty="0" err="1">
                <a:solidFill>
                  <a:srgbClr val="E2E5E9"/>
                </a:solidFill>
                <a:effectLst/>
                <a:latin typeface="Segoe UI Historic" panose="020B0502040204020203" pitchFamily="34" charset="0"/>
              </a:rPr>
              <a:t>Sinthia</a:t>
            </a:r>
            <a:r>
              <a:rPr lang="en-US" sz="2200" i="0" dirty="0">
                <a:solidFill>
                  <a:srgbClr val="E2E5E9"/>
                </a:solidFill>
                <a:effectLst/>
                <a:latin typeface="Segoe UI Historic" panose="020B0502040204020203" pitchFamily="34" charset="0"/>
              </a:rPr>
              <a:t> Ahmed Rachona</a:t>
            </a:r>
            <a:r>
              <a:rPr lang="en-US" sz="2200" dirty="0">
                <a:solidFill>
                  <a:srgbClr val="E2E5E9"/>
                </a:solidFill>
                <a:latin typeface="Segoe UI Historic" panose="020B0502040204020203" pitchFamily="34" charset="0"/>
              </a:rPr>
              <a:t>-</a:t>
            </a:r>
            <a:r>
              <a:rPr lang="en-US" sz="2200" i="0" dirty="0">
                <a:solidFill>
                  <a:srgbClr val="E2E5E9"/>
                </a:solidFill>
                <a:effectLst/>
                <a:latin typeface="Segoe UI Historic" panose="020B0502040204020203" pitchFamily="34" charset="0"/>
              </a:rPr>
              <a:t>2211916042</a:t>
            </a:r>
            <a:endParaRPr lang="en-US" sz="22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2200" i="0" dirty="0">
                <a:solidFill>
                  <a:srgbClr val="E2E5E9"/>
                </a:solidFill>
                <a:effectLst/>
                <a:latin typeface="inherit"/>
              </a:rPr>
              <a:t> </a:t>
            </a:r>
            <a:r>
              <a:rPr lang="en-US" sz="2200" i="0" dirty="0">
                <a:solidFill>
                  <a:srgbClr val="E2E5E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Ashraful Islam-2212669042     </a:t>
            </a:r>
            <a:r>
              <a:rPr lang="en-US" sz="2200" i="0" dirty="0">
                <a:solidFill>
                  <a:srgbClr val="E2E5E9"/>
                </a:solidFill>
                <a:effectLst/>
                <a:latin typeface="inherit"/>
              </a:rPr>
              <a:t>4.</a:t>
            </a:r>
            <a:r>
              <a:rPr lang="sv-SE" sz="2400" b="0" i="0" dirty="0">
                <a:solidFill>
                  <a:srgbClr val="E2E5E9"/>
                </a:solidFill>
                <a:effectLst/>
                <a:latin typeface="Segoe UI Historic" panose="020B0502040204020203" pitchFamily="34" charset="0"/>
              </a:rPr>
              <a:t> M.G.Rabbi Hossen-2222516042</a:t>
            </a:r>
            <a:endParaRPr lang="en-US" sz="2200" i="0" dirty="0">
              <a:solidFill>
                <a:srgbClr val="E2E5E9"/>
              </a:solidFill>
              <a:effectLst/>
              <a:latin typeface="inherit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B88B93-8EC4-4A49-BBC7-93631EEF85BB}"/>
              </a:ext>
            </a:extLst>
          </p:cNvPr>
          <p:cNvSpPr txBox="1"/>
          <p:nvPr/>
        </p:nvSpPr>
        <p:spPr>
          <a:xfrm>
            <a:off x="8300156" y="2244698"/>
            <a:ext cx="38664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solidFill>
                  <a:srgbClr val="FF0000"/>
                </a:solidFill>
              </a:rPr>
              <a:t>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914400"/>
          </a:xfrm>
          <a:prstGeom prst="rect">
            <a:avLst/>
          </a:prstGeom>
          <a:solidFill>
            <a:srgbClr val="E8510A"/>
          </a:solidFill>
          <a:ln w="12700">
            <a:solidFill>
              <a:srgbClr val="E851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0" y="73152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solidFill>
            <a:srgbClr val="2D1200"/>
          </a:solidFill>
          <a:ln w="25400">
            <a:solidFill>
              <a:srgbClr val="E8510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🌋  A robot is deployed on an active volcano to collect scientific samples and reach a goal location — without being destroyed.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41148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7941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40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1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Dangerous Environment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volcano has craters, lava zones, and toxic gas pockets that can destroy the robot.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2148840"/>
            <a:ext cx="41148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7941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2240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1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🧭  No Human Control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56032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must find its own path — no step-by-step human guidance is available.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429000"/>
            <a:ext cx="41148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7941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5204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1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Sequential Decisions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move the robot makes affects where it can go next, and what rewards or penalties it receives.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3429000"/>
            <a:ext cx="41148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7941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5204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1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 Needs a Smart Policy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84048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must learn the best action at every location to maximize long-term mission success.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510A"/>
          </a:solidFill>
          <a:ln w="12700">
            <a:solidFill>
              <a:srgbClr val="E851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1783080"/>
          </a:xfrm>
          <a:prstGeom prst="rect">
            <a:avLst/>
          </a:prstGeom>
          <a:solidFill>
            <a:srgbClr val="2D1200"/>
          </a:solidFill>
          <a:ln w="19050">
            <a:solidFill>
              <a:srgbClr val="E8510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704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6702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🗺️  Model the Environment as a Grid World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986534"/>
            <a:ext cx="2578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the volcano as a 10×10 grid where each cell has a reward value (safe, gas zone, lava, crater, goal).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743200" cy="1783080"/>
          </a:xfrm>
          <a:prstGeom prst="rect">
            <a:avLst/>
          </a:prstGeom>
          <a:solidFill>
            <a:srgbClr val="2D1200"/>
          </a:solidFill>
          <a:ln w="19050">
            <a:solidFill>
              <a:srgbClr val="E8510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1704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1203" y="12344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Build an Autonomous Agent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1993392"/>
            <a:ext cx="2578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robot agent that can sense its position and choose one of four actions: UP, DOWN, LEFT, RIGHT.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743200" cy="1783080"/>
          </a:xfrm>
          <a:prstGeom prst="rect">
            <a:avLst/>
          </a:prstGeom>
          <a:solidFill>
            <a:srgbClr val="2D1200"/>
          </a:solidFill>
          <a:ln w="19050">
            <a:solidFill>
              <a:srgbClr val="E8510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1704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12344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 Apply Markov Decision Process (MDP)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45352" y="1986534"/>
            <a:ext cx="2578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MDP framework to formally define states, actions, transitions, and rewards for the robot's mission.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2743200" cy="1783080"/>
          </a:xfrm>
          <a:prstGeom prst="rect">
            <a:avLst/>
          </a:prstGeom>
          <a:solidFill>
            <a:srgbClr val="2D1200"/>
          </a:solidFill>
          <a:ln w="19050">
            <a:solidFill>
              <a:srgbClr val="E8510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09067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13410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Solve with Value Iteration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" y="3858768"/>
            <a:ext cx="2578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Value Iteration algorithm to compute the optimal policy — the best action at every cell.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0" y="3017520"/>
            <a:ext cx="2743200" cy="1783080"/>
          </a:xfrm>
          <a:prstGeom prst="rect">
            <a:avLst/>
          </a:prstGeom>
          <a:solidFill>
            <a:srgbClr val="2D1200"/>
          </a:solidFill>
          <a:ln w="19050">
            <a:solidFill>
              <a:srgbClr val="E8510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91840" y="309067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1203" y="3123379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Maximize Mission Success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91840" y="3909060"/>
            <a:ext cx="2578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should collect samples and reach the goal while avoiding hazards, maximizing cumulative reward.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26480" y="3017520"/>
            <a:ext cx="2743200" cy="1783080"/>
          </a:xfrm>
          <a:prstGeom prst="rect">
            <a:avLst/>
          </a:prstGeom>
          <a:solidFill>
            <a:srgbClr val="2D1200"/>
          </a:solidFill>
          <a:ln w="19050">
            <a:solidFill>
              <a:srgbClr val="E8510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17920" y="309067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3155911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Visualize the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17920" y="3909060"/>
            <a:ext cx="2578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value map and policy (direction arrows) on the grid so we can verify the robot's decision-making.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0973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620973"/>
          </a:xfrm>
          <a:prstGeom prst="rect">
            <a:avLst/>
          </a:prstGeom>
          <a:solidFill>
            <a:srgbClr val="E8510A"/>
          </a:solidFill>
          <a:ln w="12700">
            <a:solidFill>
              <a:srgbClr val="E851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0" y="73152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8936" y="646899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7848" y="646899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6760" y="646899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75672" y="646899"/>
            <a:ext cx="420624" cy="420624"/>
          </a:xfrm>
          <a:prstGeom prst="rect">
            <a:avLst/>
          </a:prstGeom>
          <a:solidFill>
            <a:srgbClr val="228B22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14584" y="646899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3496" y="646899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2408" y="646899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31320" y="646899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70232" y="646899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9144" y="646899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8936" y="1085811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7848" y="1085811"/>
            <a:ext cx="420624" cy="420624"/>
          </a:xfrm>
          <a:prstGeom prst="rect">
            <a:avLst/>
          </a:prstGeom>
          <a:solidFill>
            <a:srgbClr val="8B000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36760" y="1085811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75672" y="1085811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14584" y="1085811"/>
            <a:ext cx="420624" cy="420624"/>
          </a:xfrm>
          <a:prstGeom prst="rect">
            <a:avLst/>
          </a:prstGeom>
          <a:solidFill>
            <a:srgbClr val="E8510A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3496" y="1085811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92408" y="1085811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31320" y="1085811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70232" y="1085811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09144" y="1085811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8936" y="1524723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7848" y="1524723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36760" y="1524723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75672" y="1524723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14584" y="1524723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53496" y="1524723"/>
            <a:ext cx="420624" cy="420624"/>
          </a:xfrm>
          <a:prstGeom prst="rect">
            <a:avLst/>
          </a:prstGeom>
          <a:solidFill>
            <a:srgbClr val="228B22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92408" y="1524723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31320" y="1524723"/>
            <a:ext cx="420624" cy="420624"/>
          </a:xfrm>
          <a:prstGeom prst="rect">
            <a:avLst/>
          </a:prstGeom>
          <a:solidFill>
            <a:srgbClr val="8B000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70232" y="1524723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09144" y="1524723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8936" y="1963635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7848" y="1963635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36760" y="1963635"/>
            <a:ext cx="420624" cy="420624"/>
          </a:xfrm>
          <a:prstGeom prst="rect">
            <a:avLst/>
          </a:prstGeom>
          <a:solidFill>
            <a:srgbClr val="E8510A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75672" y="1963635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14584" y="1963635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53496" y="1963635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92408" y="1963635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31320" y="1963635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70232" y="1963635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09144" y="1963635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8936" y="2402547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97848" y="2402547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236760" y="2402547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675672" y="2402547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114584" y="2402547"/>
            <a:ext cx="420624" cy="420624"/>
          </a:xfrm>
          <a:prstGeom prst="rect">
            <a:avLst/>
          </a:prstGeom>
          <a:solidFill>
            <a:srgbClr val="8B000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53496" y="2402547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92408" y="2402547"/>
            <a:ext cx="420624" cy="420624"/>
          </a:xfrm>
          <a:prstGeom prst="rect">
            <a:avLst/>
          </a:prstGeom>
          <a:solidFill>
            <a:srgbClr val="E8510A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431320" y="2402547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870232" y="2402547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09144" y="2402547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8936" y="2841459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97848" y="2841459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236760" y="2841459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675672" y="2841459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114584" y="2841459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53496" y="2841459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92408" y="2841459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431320" y="2841459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870232" y="2841459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09144" y="2841459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58936" y="3280371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7848" y="3280371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36760" y="3280371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675672" y="3280371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114584" y="3280371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553496" y="3280371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92408" y="3280371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431320" y="3280371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870232" y="3280371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309144" y="3280371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8936" y="3719283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97848" y="3719283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236760" y="3719283"/>
            <a:ext cx="420624" cy="420624"/>
          </a:xfrm>
          <a:prstGeom prst="rect">
            <a:avLst/>
          </a:prstGeom>
          <a:solidFill>
            <a:srgbClr val="8B000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675672" y="3719283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114584" y="3719283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553496" y="3719283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992408" y="3719283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431320" y="3719283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870232" y="3719283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309144" y="3719283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58936" y="4158195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97848" y="4158195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236760" y="4158195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675672" y="4158195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114584" y="4158195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553496" y="4158195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992408" y="4158195"/>
            <a:ext cx="420624" cy="420624"/>
          </a:xfrm>
          <a:prstGeom prst="rect">
            <a:avLst/>
          </a:prstGeom>
          <a:solidFill>
            <a:srgbClr val="8B000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431320" y="4158195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870232" y="4158195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309144" y="4158195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58936" y="4597107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97848" y="4597107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236760" y="4597107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675672" y="4597107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114584" y="4597107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553496" y="4597107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992408" y="4597107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431320" y="4597107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870232" y="4597107"/>
            <a:ext cx="420624" cy="420624"/>
          </a:xfrm>
          <a:prstGeom prst="rect">
            <a:avLst/>
          </a:prstGeom>
          <a:solidFill>
            <a:srgbClr val="E8D5B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309144" y="4597107"/>
            <a:ext cx="420624" cy="420624"/>
          </a:xfrm>
          <a:prstGeom prst="rect">
            <a:avLst/>
          </a:prstGeom>
          <a:solidFill>
            <a:srgbClr val="FFD700"/>
          </a:solidFill>
          <a:ln w="5080">
            <a:solidFill>
              <a:srgbClr val="C8A07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58936" y="646899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🤖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51452" y="494690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World (10×10)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>
            <a:off x="502920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Legend</a:t>
            </a:r>
            <a:endParaRPr lang="en-US" sz="1400" dirty="0"/>
          </a:p>
        </p:txBody>
      </p:sp>
      <p:sp>
        <p:nvSpPr>
          <p:cNvPr id="109" name="Shape 107"/>
          <p:cNvSpPr/>
          <p:nvPr/>
        </p:nvSpPr>
        <p:spPr>
          <a:xfrm>
            <a:off x="5029200" y="1508760"/>
            <a:ext cx="320040" cy="320040"/>
          </a:xfrm>
          <a:prstGeom prst="rect">
            <a:avLst/>
          </a:prstGeom>
          <a:solidFill>
            <a:srgbClr val="E8D5B0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440680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Area (movement allowed)</a:t>
            </a:r>
            <a:endParaRPr lang="en-US" sz="1150" dirty="0"/>
          </a:p>
        </p:txBody>
      </p:sp>
      <p:sp>
        <p:nvSpPr>
          <p:cNvPr id="111" name="Shape 109"/>
          <p:cNvSpPr/>
          <p:nvPr/>
        </p:nvSpPr>
        <p:spPr>
          <a:xfrm>
            <a:off x="5029200" y="1984248"/>
            <a:ext cx="320040" cy="320040"/>
          </a:xfrm>
          <a:prstGeom prst="rect">
            <a:avLst/>
          </a:prstGeom>
          <a:solidFill>
            <a:srgbClr val="8B0000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440680" y="1984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Crater (robot destroyed, −100)</a:t>
            </a:r>
            <a:endParaRPr lang="en-US" sz="1150" dirty="0"/>
          </a:p>
        </p:txBody>
      </p:sp>
      <p:sp>
        <p:nvSpPr>
          <p:cNvPr id="113" name="Shape 111"/>
          <p:cNvSpPr/>
          <p:nvPr/>
        </p:nvSpPr>
        <p:spPr>
          <a:xfrm>
            <a:off x="5029200" y="2459736"/>
            <a:ext cx="320040" cy="320040"/>
          </a:xfrm>
          <a:prstGeom prst="rect">
            <a:avLst/>
          </a:prstGeom>
          <a:solidFill>
            <a:srgbClr val="E8510A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440680" y="245973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 Zone (−30 penalty)</a:t>
            </a:r>
            <a:endParaRPr lang="en-US" sz="1150" dirty="0"/>
          </a:p>
        </p:txBody>
      </p:sp>
      <p:sp>
        <p:nvSpPr>
          <p:cNvPr id="115" name="Shape 113"/>
          <p:cNvSpPr/>
          <p:nvPr/>
        </p:nvSpPr>
        <p:spPr>
          <a:xfrm>
            <a:off x="5029200" y="2935224"/>
            <a:ext cx="320040" cy="320040"/>
          </a:xfrm>
          <a:prstGeom prst="rect">
            <a:avLst/>
          </a:prstGeom>
          <a:solidFill>
            <a:srgbClr val="228B22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440680" y="29352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Zone (−10 penalty)</a:t>
            </a:r>
            <a:endParaRPr lang="en-US" sz="1150" dirty="0"/>
          </a:p>
        </p:txBody>
      </p:sp>
      <p:sp>
        <p:nvSpPr>
          <p:cNvPr id="117" name="Shape 115"/>
          <p:cNvSpPr/>
          <p:nvPr/>
        </p:nvSpPr>
        <p:spPr>
          <a:xfrm>
            <a:off x="5029200" y="3410712"/>
            <a:ext cx="320040" cy="320040"/>
          </a:xfrm>
          <a:prstGeom prst="rect">
            <a:avLst/>
          </a:prstGeom>
          <a:solidFill>
            <a:srgbClr val="FFD700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440680" y="34107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/ Flag (+100 reward)</a:t>
            </a:r>
            <a:endParaRPr lang="en-US" sz="1150" dirty="0"/>
          </a:p>
        </p:txBody>
      </p:sp>
      <p:sp>
        <p:nvSpPr>
          <p:cNvPr id="119" name="Shape 117"/>
          <p:cNvSpPr/>
          <p:nvPr/>
        </p:nvSpPr>
        <p:spPr>
          <a:xfrm>
            <a:off x="5029200" y="3977640"/>
            <a:ext cx="3749040" cy="1097280"/>
          </a:xfrm>
          <a:prstGeom prst="rect">
            <a:avLst/>
          </a:prstGeom>
          <a:solidFill>
            <a:srgbClr val="1A0A00"/>
          </a:solidFill>
          <a:ln w="19050">
            <a:solidFill>
              <a:srgbClr val="E8510A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166360" y="4041648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Size: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× 10 = 100 states
</a:t>
            </a:r>
            <a:r>
              <a:rPr lang="en-US" sz="115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UP, DOWN, LEFT, RIGHT
</a:t>
            </a:r>
            <a:r>
              <a:rPr lang="en-US" sz="115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Factor γ: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(future matters!)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510A"/>
          </a:solidFill>
          <a:ln w="12700">
            <a:solidFill>
              <a:srgbClr val="E851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 / 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2743200"/>
          </a:xfrm>
          <a:prstGeom prst="rect">
            <a:avLst/>
          </a:prstGeom>
          <a:solidFill>
            <a:srgbClr val="2D1200"/>
          </a:solidFill>
          <a:ln w="19050">
            <a:solidFill>
              <a:srgbClr val="F7941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78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MDP Definition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536192"/>
            <a:ext cx="402336" cy="402336"/>
          </a:xfrm>
          <a:prstGeom prst="ellipse">
            <a:avLst/>
          </a:prstGeom>
          <a:solidFill>
            <a:srgbClr val="E8510A"/>
          </a:solidFill>
          <a:ln w="12700">
            <a:solidFill>
              <a:srgbClr val="E851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361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57276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States: All 100 grid cells are possible states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993392"/>
            <a:ext cx="402336" cy="402336"/>
          </a:xfrm>
          <a:prstGeom prst="ellipse">
            <a:avLst/>
          </a:prstGeom>
          <a:solidFill>
            <a:srgbClr val="E8510A"/>
          </a:solidFill>
          <a:ln w="12700">
            <a:solidFill>
              <a:srgbClr val="E851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93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202996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4 moves: UP, DOWN, LEFT, RIGHT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450592"/>
            <a:ext cx="402336" cy="402336"/>
          </a:xfrm>
          <a:prstGeom prst="ellipse">
            <a:avLst/>
          </a:prstGeom>
          <a:solidFill>
            <a:srgbClr val="E8510A"/>
          </a:solidFill>
          <a:ln w="12700">
            <a:solidFill>
              <a:srgbClr val="E851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505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" y="248716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Transitions: Move to next cell if valid, else stay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907792"/>
            <a:ext cx="402336" cy="402336"/>
          </a:xfrm>
          <a:prstGeom prst="ellipse">
            <a:avLst/>
          </a:prstGeom>
          <a:solidFill>
            <a:srgbClr val="E8510A"/>
          </a:solidFill>
          <a:ln w="12700">
            <a:solidFill>
              <a:srgbClr val="E851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07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7552" y="294436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Rewards: Cell values drive the reward signal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364992"/>
            <a:ext cx="402336" cy="402336"/>
          </a:xfrm>
          <a:prstGeom prst="ellipse">
            <a:avLst/>
          </a:prstGeom>
          <a:solidFill>
            <a:srgbClr val="E8510A"/>
          </a:solidFill>
          <a:ln w="12700">
            <a:solidFill>
              <a:srgbClr val="E851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3649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γ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340156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Discount: 0.9 — future rewards still matter a lot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005840"/>
            <a:ext cx="4206240" cy="2743200"/>
          </a:xfrm>
          <a:prstGeom prst="rect">
            <a:avLst/>
          </a:prstGeom>
          <a:solidFill>
            <a:srgbClr val="2D1200"/>
          </a:solidFill>
          <a:ln w="19050">
            <a:solidFill>
              <a:srgbClr val="E8510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09160" y="10789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Iteration Steps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709160" y="1536192"/>
            <a:ext cx="292608" cy="292608"/>
          </a:xfrm>
          <a:prstGeom prst="ellipse">
            <a:avLst/>
          </a:prstGeom>
          <a:solidFill>
            <a:srgbClr val="E8510A"/>
          </a:solidFill>
          <a:ln w="12700">
            <a:solidFill>
              <a:srgbClr val="E851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536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02352" y="15544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all state values V(s) = 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2011680"/>
            <a:ext cx="292608" cy="292608"/>
          </a:xfrm>
          <a:prstGeom prst="ellipse">
            <a:avLst/>
          </a:prstGeom>
          <a:solidFill>
            <a:srgbClr val="E8510A"/>
          </a:solidFill>
          <a:ln w="12700">
            <a:solidFill>
              <a:srgbClr val="E851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011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02352" y="20299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state, compute expected value for all 4 actions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2487168"/>
            <a:ext cx="292608" cy="292608"/>
          </a:xfrm>
          <a:prstGeom prst="ellipse">
            <a:avLst/>
          </a:prstGeom>
          <a:solidFill>
            <a:srgbClr val="E8510A"/>
          </a:solidFill>
          <a:ln w="12700">
            <a:solidFill>
              <a:srgbClr val="E851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4871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02352" y="25054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action with maximum value → best policy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2962656"/>
            <a:ext cx="292608" cy="292608"/>
          </a:xfrm>
          <a:prstGeom prst="ellipse">
            <a:avLst/>
          </a:prstGeom>
          <a:solidFill>
            <a:srgbClr val="E8510A"/>
          </a:solidFill>
          <a:ln w="12700">
            <a:solidFill>
              <a:srgbClr val="E851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9626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02352" y="29809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V(s) = max over all actions [R + γ·V(s')]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3438144"/>
            <a:ext cx="292608" cy="292608"/>
          </a:xfrm>
          <a:prstGeom prst="ellipse">
            <a:avLst/>
          </a:prstGeom>
          <a:solidFill>
            <a:srgbClr val="E8510A"/>
          </a:solidFill>
          <a:ln w="12700">
            <a:solidFill>
              <a:srgbClr val="E851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02352" y="34564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100 iterations until values converge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3913632"/>
            <a:ext cx="292608" cy="292608"/>
          </a:xfrm>
          <a:prstGeom prst="ellipse">
            <a:avLst/>
          </a:prstGeom>
          <a:solidFill>
            <a:srgbClr val="E8510A"/>
          </a:solidFill>
          <a:ln w="12700">
            <a:solidFill>
              <a:srgbClr val="E8510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913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02352" y="39319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policy = the robot's decision map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3840480"/>
            <a:ext cx="8412480" cy="685800"/>
          </a:xfrm>
          <a:prstGeom prst="rect">
            <a:avLst/>
          </a:prstGeom>
          <a:solidFill>
            <a:srgbClr val="0D0500"/>
          </a:solidFill>
          <a:ln w="19050">
            <a:solidFill>
              <a:srgbClr val="F7941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94360" y="395020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7941D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Bellman Equation:   V(s) = max_a [ R(s, a) + γ · V(s') ]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914400"/>
          </a:xfrm>
          <a:prstGeom prst="rect">
            <a:avLst/>
          </a:prstGeom>
          <a:solidFill>
            <a:srgbClr val="E8510A"/>
          </a:solidFill>
          <a:ln w="12700">
            <a:solidFill>
              <a:srgbClr val="E851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0" y="73152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8346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7941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2834640" cy="347472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8813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🗂️  Modular Codebase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1472184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separation: environment/, mdp/, agent/, utils/ — each module does one job. Easy to maintain and extend.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8346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7941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51560"/>
            <a:ext cx="2834640" cy="347472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8813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 Configurable Parameters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0128" y="1472184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 centralizes all settings: grid size, discount factor, reward values. Change one file to experiment freely.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8346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7941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51560"/>
            <a:ext cx="2834640" cy="347472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08813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Value Iteration Solver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36208" y="1472184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MDPSolver implements 100-iteration value iteration, computing optimal V(s) and policy for every grid cell.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28346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7941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26080"/>
            <a:ext cx="2834640" cy="347472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626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 Rich Reward System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" y="3346704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rewards: +100 goal, +20 sample, +10 new area, −1 step, −10 gas, −30 lava, −100 crater.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0" y="2926080"/>
            <a:ext cx="28346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7941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926080"/>
            <a:ext cx="2834640" cy="347472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9626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 Boundary Handling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10128" y="3346704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attempting to move off the grid stay in place — preventing invalid state errors automatically.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26480" y="2926080"/>
            <a:ext cx="28346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7941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926080"/>
            <a:ext cx="2834640" cy="347472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96265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🎨  Grid Visualization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36208" y="3346704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module displays the value map and optimal policy directions on the grid for easy interpretation.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510A"/>
          </a:solidFill>
          <a:ln w="12700">
            <a:solidFill>
              <a:srgbClr val="E851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USED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88920" cy="1783080"/>
          </a:xfrm>
          <a:prstGeom prst="rect">
            <a:avLst/>
          </a:prstGeom>
          <a:solidFill>
            <a:srgbClr val="2D1200"/>
          </a:solidFill>
          <a:ln w="25400">
            <a:solidFill>
              <a:srgbClr val="3776AB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548640" cy="1783080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00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96112" y="11430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3.13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15087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language. Used for all modules — environment, MDP solver, agent, and utilities. Clean object-oriented design.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2468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79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OOP  •  Modules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788920" cy="1783080"/>
          </a:xfrm>
          <a:prstGeom prst="rect">
            <a:avLst/>
          </a:prstGeom>
          <a:solidFill>
            <a:srgbClr val="2D1200"/>
          </a:solidFill>
          <a:ln w="25400">
            <a:solidFill>
              <a:srgbClr val="013243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51560"/>
            <a:ext cx="548640" cy="1783080"/>
          </a:xfrm>
          <a:prstGeom prst="rect">
            <a:avLst/>
          </a:prstGeom>
          <a:solidFill>
            <a:srgbClr val="013243"/>
          </a:solidFill>
          <a:ln w="12700">
            <a:solidFill>
              <a:srgbClr val="0132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600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🔢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822192" y="11430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NumPy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22192" y="15087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grid as a 2D numpy array. Used for value matrix, policy matrix, and all numerical computations.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22192" y="2468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79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np.zeros  •  np.copy  •  np.argmax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1051560"/>
            <a:ext cx="2788920" cy="1783080"/>
          </a:xfrm>
          <a:prstGeom prst="rect">
            <a:avLst/>
          </a:prstGeom>
          <a:solidFill>
            <a:srgbClr val="2D1200"/>
          </a:solidFill>
          <a:ln w="25400">
            <a:solidFill>
              <a:srgbClr val="11557C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51560"/>
            <a:ext cx="548640" cy="1783080"/>
          </a:xfrm>
          <a:prstGeom prst="rect">
            <a:avLst/>
          </a:prstGeom>
          <a:solidFill>
            <a:srgbClr val="11557C"/>
          </a:solidFill>
          <a:ln w="12700">
            <a:solidFill>
              <a:srgbClr val="1155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6002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748272" y="11430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48272" y="15087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grid world visually — heatmaps of value functions and arrow overlays showing the optimal policy.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48272" y="2468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79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Heatmap  •  Policy Arrows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971800"/>
            <a:ext cx="2788920" cy="1783080"/>
          </a:xfrm>
          <a:prstGeom prst="rect">
            <a:avLst/>
          </a:prstGeom>
          <a:solidFill>
            <a:srgbClr val="2D1200"/>
          </a:solidFill>
          <a:ln w="25400">
            <a:solidFill>
              <a:srgbClr val="F05032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71800"/>
            <a:ext cx="548640" cy="1783080"/>
          </a:xfrm>
          <a:prstGeom prst="rect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5204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🗂️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96112" y="30632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6112" y="34290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tracking changes. Commit history shows feature additions and bug fixes over development time.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6112" y="4389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79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Control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0" y="2971800"/>
            <a:ext cx="2788920" cy="1783080"/>
          </a:xfrm>
          <a:prstGeom prst="rect">
            <a:avLst/>
          </a:prstGeom>
          <a:solidFill>
            <a:srgbClr val="2D1200"/>
          </a:solidFill>
          <a:ln w="25400">
            <a:solidFill>
              <a:srgbClr val="2D5016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971800"/>
            <a:ext cx="548640" cy="1783080"/>
          </a:xfrm>
          <a:prstGeom prst="rect">
            <a:avLst/>
          </a:prstGeom>
          <a:solidFill>
            <a:srgbClr val="2D5016"/>
          </a:solidFill>
          <a:ln w="12700">
            <a:solidFill>
              <a:srgbClr val="2D50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35204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3822192" y="30632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Config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822192" y="34290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 serves as the single source of truth for all hyperparameters: grid size, actions, γ, and all reward values.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22192" y="4389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79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GRID_SIZE=10  •  GAMMA=0.9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26480" y="2971800"/>
            <a:ext cx="2788920" cy="1783080"/>
          </a:xfrm>
          <a:prstGeom prst="rect">
            <a:avLst/>
          </a:prstGeom>
          <a:solidFill>
            <a:srgbClr val="2D1200"/>
          </a:solidFill>
          <a:ln w="25400">
            <a:solidFill>
              <a:srgbClr val="6B2D6B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2971800"/>
            <a:ext cx="548640" cy="1783080"/>
          </a:xfrm>
          <a:prstGeom prst="rect">
            <a:avLst/>
          </a:prstGeom>
          <a:solidFill>
            <a:srgbClr val="6B2D6B"/>
          </a:solidFill>
          <a:ln w="12700">
            <a:solidFill>
              <a:srgbClr val="6B2D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35204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748272" y="30632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MDP Framework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48272" y="34290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mathematical framework (States, Actions, Transitions, Rewards, Discount) implemented from scratch in Python.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748272" y="4389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794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Iteration  •  Bellman Eq.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914400"/>
          </a:xfrm>
          <a:prstGeom prst="rect">
            <a:avLst/>
          </a:prstGeom>
          <a:solidFill>
            <a:srgbClr val="E8510A"/>
          </a:solidFill>
          <a:ln w="12700">
            <a:solidFill>
              <a:srgbClr val="E851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0" y="73152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468880" cy="1005840"/>
          </a:xfrm>
          <a:prstGeom prst="rect">
            <a:avLst/>
          </a:prstGeom>
          <a:solidFill>
            <a:srgbClr val="013243"/>
          </a:solidFill>
          <a:ln w="19050">
            <a:solidFill>
              <a:srgbClr val="E8510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344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config.py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1848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GRID_SIZE, ACTIONS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GAMMA, REWARDS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143000"/>
            <a:ext cx="2468880" cy="1005840"/>
          </a:xfrm>
          <a:prstGeom prst="rect">
            <a:avLst/>
          </a:prstGeom>
          <a:solidFill>
            <a:srgbClr val="3776AB"/>
          </a:solidFill>
          <a:ln w="19050">
            <a:solidFill>
              <a:srgbClr val="E8510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2344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🌋  environment/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61848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grid_world.py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hazards.py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55080" y="1143000"/>
            <a:ext cx="2468880" cy="1005840"/>
          </a:xfrm>
          <a:prstGeom prst="rect">
            <a:avLst/>
          </a:prstGeom>
          <a:solidFill>
            <a:srgbClr val="2D5016"/>
          </a:solidFill>
          <a:ln w="19050">
            <a:solidFill>
              <a:srgbClr val="E8510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2344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agent/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161848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explorer.py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(robot logic)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2468880" cy="1005840"/>
          </a:xfrm>
          <a:prstGeom prst="rect">
            <a:avLst/>
          </a:prstGeom>
          <a:solidFill>
            <a:srgbClr val="6B2D6B"/>
          </a:solidFill>
          <a:ln w="19050">
            <a:solidFill>
              <a:srgbClr val="E8510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3063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 mdp/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44728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mdp_solver.py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Iteration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7560" y="2971800"/>
            <a:ext cx="2468880" cy="1005840"/>
          </a:xfrm>
          <a:prstGeom prst="rect">
            <a:avLst/>
          </a:prstGeom>
          <a:solidFill>
            <a:srgbClr val="8B4000"/>
          </a:solidFill>
          <a:ln w="19050">
            <a:solidFill>
              <a:srgbClr val="E8510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29000" y="3063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▶️  main.py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344728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all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55080" y="2971800"/>
            <a:ext cx="2468880" cy="1005840"/>
          </a:xfrm>
          <a:prstGeom prst="rect">
            <a:avLst/>
          </a:prstGeom>
          <a:solidFill>
            <a:srgbClr val="11557C"/>
          </a:solidFill>
          <a:ln w="19050">
            <a:solidFill>
              <a:srgbClr val="E8510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6520" y="30632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utils/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344728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visualization.py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&amp; policy render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88920" y="1645920"/>
            <a:ext cx="548640" cy="0"/>
          </a:xfrm>
          <a:prstGeom prst="line">
            <a:avLst/>
          </a:prstGeom>
          <a:noFill/>
          <a:ln w="25400">
            <a:solidFill>
              <a:srgbClr val="E8510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1645920"/>
            <a:ext cx="548640" cy="0"/>
          </a:xfrm>
          <a:prstGeom prst="line">
            <a:avLst/>
          </a:prstGeom>
          <a:noFill/>
          <a:ln w="25400">
            <a:solidFill>
              <a:srgbClr val="E851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88920" y="3474720"/>
            <a:ext cx="548640" cy="0"/>
          </a:xfrm>
          <a:prstGeom prst="line">
            <a:avLst/>
          </a:prstGeom>
          <a:noFill/>
          <a:ln w="25400">
            <a:solidFill>
              <a:srgbClr val="E8510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06440" y="3474720"/>
            <a:ext cx="548640" cy="0"/>
          </a:xfrm>
          <a:prstGeom prst="line">
            <a:avLst/>
          </a:prstGeom>
          <a:noFill/>
          <a:ln w="25400">
            <a:solidFill>
              <a:srgbClr val="E851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54480" y="2148840"/>
            <a:ext cx="0" cy="822960"/>
          </a:xfrm>
          <a:prstGeom prst="line">
            <a:avLst/>
          </a:prstGeom>
          <a:noFill/>
          <a:ln w="25400">
            <a:solidFill>
              <a:srgbClr val="E8510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2148840"/>
            <a:ext cx="0" cy="822960"/>
          </a:xfrm>
          <a:prstGeom prst="line">
            <a:avLst/>
          </a:prstGeom>
          <a:noFill/>
          <a:ln w="25400">
            <a:solidFill>
              <a:srgbClr val="E8510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2148840"/>
            <a:ext cx="0" cy="822960"/>
          </a:xfrm>
          <a:prstGeom prst="line">
            <a:avLst/>
          </a:prstGeom>
          <a:noFill/>
          <a:ln w="25400">
            <a:solidFill>
              <a:srgbClr val="E8510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4160520"/>
            <a:ext cx="8503920" cy="777240"/>
          </a:xfrm>
          <a:prstGeom prst="rect">
            <a:avLst/>
          </a:prstGeom>
          <a:solidFill>
            <a:srgbClr val="1A0A00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062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 config.py  →  environment  →  mdp_solver  →  agent  →  visualization  (via main.py)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510A"/>
          </a:solidFill>
          <a:ln w="12700">
            <a:solidFill>
              <a:srgbClr val="E851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DETAILS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503920" y="73152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572000" cy="3840480"/>
          </a:xfrm>
          <a:prstGeom prst="rect">
            <a:avLst/>
          </a:prstGeom>
          <a:solidFill>
            <a:srgbClr val="0D0500"/>
          </a:solidFill>
          <a:ln w="19050">
            <a:solidFill>
              <a:srgbClr val="F794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MDPSolver — Value Iteration Core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2302932"/>
            <a:ext cx="4336627" cy="16188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value_iteration(self, iterations=100):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_ in range(iterations):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new_V = np.copy(self.V)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x in range(self.env.size):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y in range(self.env.size):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values = []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a in range(len(ACTIONS)):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nx, ny = self.get_next_state(x,y,a)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reward = self.env.get_cell(nx, ny)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values.append(reward+GAMMA*self.V[nx][ny])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new_V[x][y] = max(values)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self.policy[x][y] = np.argmax(values)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self.V = new_V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self.V, </a:t>
            </a:r>
            <a:r>
              <a:rPr lang="en-US" sz="1100" dirty="0" err="1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self.policy</a:t>
            </a:r>
            <a:endParaRPr lang="en-US" sz="1100" dirty="0">
              <a:solidFill>
                <a:srgbClr val="90EE9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90EE9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This function repeatedly updates each position’s value and chooses the best action to find the robot’s optimal path.</a:t>
            </a:r>
          </a:p>
          <a:p>
            <a:pPr marL="0" indent="0">
              <a:buNone/>
            </a:pPr>
            <a:endParaRPr lang="en-US" sz="1100" dirty="0">
              <a:solidFill>
                <a:srgbClr val="90EE9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90EE90"/>
              </a:solidFill>
              <a:latin typeface="Consolas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74920" y="1051560"/>
            <a:ext cx="3749040" cy="1989667"/>
          </a:xfrm>
          <a:prstGeom prst="rect">
            <a:avLst/>
          </a:prstGeom>
          <a:solidFill>
            <a:srgbClr val="0D0500"/>
          </a:solidFill>
          <a:ln w="19050">
            <a:solidFill>
              <a:srgbClr val="F794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1155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Reward Configuration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0" y="1463040"/>
            <a:ext cx="3474720" cy="1469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REWARDS =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'new_area':      +10,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'sample_collect':+20,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'goal':         +100,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'step':           -1,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'gas':           -10,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'lava_close':    -30,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'crater':       -100,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74920" y="3105235"/>
            <a:ext cx="3749040" cy="1965113"/>
          </a:xfrm>
          <a:prstGeom prst="rect">
            <a:avLst/>
          </a:prstGeom>
          <a:solidFill>
            <a:srgbClr val="0D0500"/>
          </a:solidFill>
          <a:ln w="19050">
            <a:solidFill>
              <a:srgbClr val="F794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3105235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🌋  GridWorld class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74920" y="3822699"/>
            <a:ext cx="3356186" cy="712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GridWorld: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self.size = GRID_SIZE  # 10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self.grid = np.zeros((10,10))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is_valid(self, x, y):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0&lt;=x&lt;self.size and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0&lt;=y&lt;</a:t>
            </a:r>
            <a:r>
              <a:rPr lang="en-US" sz="1100" dirty="0" err="1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self.size</a:t>
            </a:r>
            <a:endParaRPr lang="en-US" sz="1100" dirty="0">
              <a:solidFill>
                <a:srgbClr val="90EE9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This creates a 10×10 grid and checks if a position is inside the grid or not.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/ RESULTS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914400"/>
          </a:xfrm>
          <a:prstGeom prst="rect">
            <a:avLst/>
          </a:prstGeom>
          <a:solidFill>
            <a:srgbClr val="E8510A"/>
          </a:solidFill>
          <a:ln w="12700">
            <a:solidFill>
              <a:srgbClr val="E851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0" y="73152"/>
            <a:ext cx="457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2062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7941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155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0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Value Map (V-function)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57200" cy="301752"/>
          </a:xfrm>
          <a:prstGeom prst="rect">
            <a:avLst/>
          </a:prstGeom>
          <a:solidFill>
            <a:srgbClr val="8B000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1508760"/>
            <a:ext cx="457200" cy="301752"/>
          </a:xfrm>
          <a:prstGeom prst="rect">
            <a:avLst/>
          </a:prstGeom>
          <a:solidFill>
            <a:srgbClr val="8B000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08176" y="1508760"/>
            <a:ext cx="457200" cy="301752"/>
          </a:xfrm>
          <a:prstGeom prst="rect">
            <a:avLst/>
          </a:prstGeom>
          <a:solidFill>
            <a:srgbClr val="8B000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83664" y="1508760"/>
            <a:ext cx="457200" cy="301752"/>
          </a:xfrm>
          <a:prstGeom prst="rect">
            <a:avLst/>
          </a:prstGeom>
          <a:solidFill>
            <a:srgbClr val="8B000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59152" y="1508760"/>
            <a:ext cx="457200" cy="301752"/>
          </a:xfrm>
          <a:prstGeom prst="rect">
            <a:avLst/>
          </a:prstGeom>
          <a:solidFill>
            <a:srgbClr val="A52A2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1508760"/>
            <a:ext cx="457200" cy="301752"/>
          </a:xfrm>
          <a:prstGeom prst="rect">
            <a:avLst/>
          </a:prstGeom>
          <a:solidFill>
            <a:srgbClr val="A52A2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0128" y="1508760"/>
            <a:ext cx="457200" cy="301752"/>
          </a:xfrm>
          <a:prstGeom prst="rect">
            <a:avLst/>
          </a:prstGeom>
          <a:solidFill>
            <a:srgbClr val="A52A2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85616" y="1508760"/>
            <a:ext cx="457200" cy="301752"/>
          </a:xfrm>
          <a:prstGeom prst="rect">
            <a:avLst/>
          </a:prstGeom>
          <a:solidFill>
            <a:srgbClr val="A52A2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828800"/>
            <a:ext cx="457200" cy="301752"/>
          </a:xfrm>
          <a:prstGeom prst="rect">
            <a:avLst/>
          </a:prstGeom>
          <a:solidFill>
            <a:srgbClr val="CD853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" y="1828800"/>
            <a:ext cx="457200" cy="301752"/>
          </a:xfrm>
          <a:prstGeom prst="rect">
            <a:avLst/>
          </a:prstGeom>
          <a:solidFill>
            <a:srgbClr val="CD853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08176" y="1828800"/>
            <a:ext cx="457200" cy="301752"/>
          </a:xfrm>
          <a:prstGeom prst="rect">
            <a:avLst/>
          </a:prstGeom>
          <a:solidFill>
            <a:srgbClr val="CD853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83664" y="1828800"/>
            <a:ext cx="457200" cy="301752"/>
          </a:xfrm>
          <a:prstGeom prst="rect">
            <a:avLst/>
          </a:prstGeom>
          <a:solidFill>
            <a:srgbClr val="CD853F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9152" y="1828800"/>
            <a:ext cx="457200" cy="301752"/>
          </a:xfrm>
          <a:prstGeom prst="rect">
            <a:avLst/>
          </a:prstGeom>
          <a:solidFill>
            <a:srgbClr val="DEB887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34640" y="1828800"/>
            <a:ext cx="457200" cy="301752"/>
          </a:xfrm>
          <a:prstGeom prst="rect">
            <a:avLst/>
          </a:prstGeom>
          <a:solidFill>
            <a:srgbClr val="DEB887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0128" y="1828800"/>
            <a:ext cx="457200" cy="301752"/>
          </a:xfrm>
          <a:prstGeom prst="rect">
            <a:avLst/>
          </a:prstGeom>
          <a:solidFill>
            <a:srgbClr val="DEB887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85616" y="1828800"/>
            <a:ext cx="457200" cy="301752"/>
          </a:xfrm>
          <a:prstGeom prst="rect">
            <a:avLst/>
          </a:prstGeom>
          <a:solidFill>
            <a:srgbClr val="DEB887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148840"/>
            <a:ext cx="457200" cy="301752"/>
          </a:xfrm>
          <a:prstGeom prst="rect">
            <a:avLst/>
          </a:prstGeom>
          <a:solidFill>
            <a:srgbClr val="F0E68C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" y="2148840"/>
            <a:ext cx="457200" cy="301752"/>
          </a:xfrm>
          <a:prstGeom prst="rect">
            <a:avLst/>
          </a:prstGeom>
          <a:solidFill>
            <a:srgbClr val="F0E68C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08176" y="2148840"/>
            <a:ext cx="457200" cy="301752"/>
          </a:xfrm>
          <a:prstGeom prst="rect">
            <a:avLst/>
          </a:prstGeom>
          <a:solidFill>
            <a:srgbClr val="F0E68C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83664" y="2148840"/>
            <a:ext cx="457200" cy="301752"/>
          </a:xfrm>
          <a:prstGeom prst="rect">
            <a:avLst/>
          </a:prstGeom>
          <a:solidFill>
            <a:srgbClr val="F0E68C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59152" y="2148840"/>
            <a:ext cx="457200" cy="301752"/>
          </a:xfrm>
          <a:prstGeom prst="rect">
            <a:avLst/>
          </a:prstGeom>
          <a:solidFill>
            <a:srgbClr val="90EE9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34640" y="2148840"/>
            <a:ext cx="457200" cy="301752"/>
          </a:xfrm>
          <a:prstGeom prst="rect">
            <a:avLst/>
          </a:prstGeom>
          <a:solidFill>
            <a:srgbClr val="90EE9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0128" y="2148840"/>
            <a:ext cx="457200" cy="301752"/>
          </a:xfrm>
          <a:prstGeom prst="rect">
            <a:avLst/>
          </a:prstGeom>
          <a:solidFill>
            <a:srgbClr val="90EE9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85616" y="2148840"/>
            <a:ext cx="457200" cy="301752"/>
          </a:xfrm>
          <a:prstGeom prst="rect">
            <a:avLst/>
          </a:prstGeom>
          <a:solidFill>
            <a:srgbClr val="90EE9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2468880"/>
            <a:ext cx="457200" cy="301752"/>
          </a:xfrm>
          <a:prstGeom prst="rect">
            <a:avLst/>
          </a:prstGeom>
          <a:solidFill>
            <a:srgbClr val="3CB37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2688" y="2468880"/>
            <a:ext cx="457200" cy="301752"/>
          </a:xfrm>
          <a:prstGeom prst="rect">
            <a:avLst/>
          </a:prstGeom>
          <a:solidFill>
            <a:srgbClr val="3CB37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08176" y="2468880"/>
            <a:ext cx="457200" cy="301752"/>
          </a:xfrm>
          <a:prstGeom prst="rect">
            <a:avLst/>
          </a:prstGeom>
          <a:solidFill>
            <a:srgbClr val="3CB37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83664" y="2468880"/>
            <a:ext cx="457200" cy="301752"/>
          </a:xfrm>
          <a:prstGeom prst="rect">
            <a:avLst/>
          </a:prstGeom>
          <a:solidFill>
            <a:srgbClr val="3CB371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59152" y="2468880"/>
            <a:ext cx="457200" cy="301752"/>
          </a:xfrm>
          <a:prstGeom prst="rect">
            <a:avLst/>
          </a:prstGeom>
          <a:solidFill>
            <a:srgbClr val="00640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34640" y="2468880"/>
            <a:ext cx="457200" cy="301752"/>
          </a:xfrm>
          <a:prstGeom prst="rect">
            <a:avLst/>
          </a:prstGeom>
          <a:solidFill>
            <a:srgbClr val="00640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10128" y="2468880"/>
            <a:ext cx="457200" cy="301752"/>
          </a:xfrm>
          <a:prstGeom prst="rect">
            <a:avLst/>
          </a:prstGeom>
          <a:solidFill>
            <a:srgbClr val="00640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85616" y="2468880"/>
            <a:ext cx="457200" cy="301752"/>
          </a:xfrm>
          <a:prstGeom prst="rect">
            <a:avLst/>
          </a:prstGeom>
          <a:solidFill>
            <a:srgbClr val="006400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8163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low value (danger)   →   Green = high value (goal)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663440" y="1051560"/>
            <a:ext cx="416052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7941D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00600" y="11155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0A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🧭  Policy Map (Arrow Grid)</a:t>
            </a: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800600" y="150876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150876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↑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266944" y="150876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66944" y="150876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→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733288" y="150876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33288" y="150876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↓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99632" y="150876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99632" y="150876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←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665976" y="150876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65976" y="150876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↑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132320" y="150876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32320" y="150876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→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598664" y="150876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98664" y="150876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↓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065008" y="150876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65008" y="150876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←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800600" y="182880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00600" y="182880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→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266944" y="182880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66944" y="182880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↓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733288" y="182880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733288" y="182880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←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199632" y="182880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99632" y="182880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↑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665976" y="182880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65976" y="182880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→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132320" y="182880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132320" y="182880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↓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7598664" y="182880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98664" y="182880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←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065008" y="182880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065008" y="182880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↑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4800600" y="214884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00600" y="214884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↓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5266944" y="214884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266944" y="214884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←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5733288" y="214884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733288" y="214884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↑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199632" y="214884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99632" y="214884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→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665976" y="214884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665976" y="214884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↓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7132320" y="214884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132320" y="214884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←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7598664" y="214884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598664" y="214884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↑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8065008" y="214884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065008" y="214884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→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4800600" y="246888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800600" y="246888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←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5266944" y="246888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266944" y="246888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↑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5733288" y="246888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733288" y="246888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→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6199632" y="246888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199632" y="246888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↓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6665976" y="246888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665976" y="246888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←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7132320" y="246888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132320" y="246888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↑</a:t>
            </a:r>
            <a:endParaRPr lang="en-US" sz="1600" dirty="0"/>
          </a:p>
        </p:txBody>
      </p:sp>
      <p:sp>
        <p:nvSpPr>
          <p:cNvPr id="103" name="Shape 101"/>
          <p:cNvSpPr/>
          <p:nvPr/>
        </p:nvSpPr>
        <p:spPr>
          <a:xfrm>
            <a:off x="7598664" y="246888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598664" y="246888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→</a:t>
            </a:r>
            <a:endParaRPr lang="en-US" sz="1600" dirty="0"/>
          </a:p>
        </p:txBody>
      </p:sp>
      <p:sp>
        <p:nvSpPr>
          <p:cNvPr id="105" name="Shape 103"/>
          <p:cNvSpPr/>
          <p:nvPr/>
        </p:nvSpPr>
        <p:spPr>
          <a:xfrm>
            <a:off x="8065008" y="2468880"/>
            <a:ext cx="448056" cy="301752"/>
          </a:xfrm>
          <a:prstGeom prst="rect">
            <a:avLst/>
          </a:prstGeom>
          <a:solidFill>
            <a:srgbClr val="E8D5B0"/>
          </a:solidFill>
          <a:ln w="3810">
            <a:solidFill>
              <a:srgbClr val="C8A07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065008" y="2468880"/>
            <a:ext cx="44805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510A"/>
                </a:solidFill>
              </a:rPr>
              <a:t>↓</a:t>
            </a:r>
            <a:endParaRPr lang="en-US" sz="1600" dirty="0"/>
          </a:p>
        </p:txBody>
      </p:sp>
      <p:sp>
        <p:nvSpPr>
          <p:cNvPr id="107" name="Text 105"/>
          <p:cNvSpPr/>
          <p:nvPr/>
        </p:nvSpPr>
        <p:spPr>
          <a:xfrm>
            <a:off x="4800600" y="28163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3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arrow = best action for that cell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320040" y="3246120"/>
            <a:ext cx="2057400" cy="1600200"/>
          </a:xfrm>
          <a:prstGeom prst="rect">
            <a:avLst/>
          </a:prstGeom>
          <a:solidFill>
            <a:srgbClr val="1A0A00"/>
          </a:solidFill>
          <a:ln w="19050">
            <a:solidFill>
              <a:srgbClr val="E8510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9" name="Text 107"/>
          <p:cNvSpPr/>
          <p:nvPr/>
        </p:nvSpPr>
        <p:spPr>
          <a:xfrm>
            <a:off x="320040" y="3337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110" name="Text 108"/>
          <p:cNvSpPr/>
          <p:nvPr/>
        </p:nvSpPr>
        <p:spPr>
          <a:xfrm>
            <a:off x="411480" y="3776472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Optimal Policy</a:t>
            </a:r>
            <a:endParaRPr lang="en-US" sz="1600" dirty="0"/>
          </a:p>
        </p:txBody>
      </p:sp>
      <p:sp>
        <p:nvSpPr>
          <p:cNvPr id="111" name="Text 109"/>
          <p:cNvSpPr/>
          <p:nvPr/>
        </p:nvSpPr>
        <p:spPr>
          <a:xfrm>
            <a:off x="411480" y="4087368"/>
            <a:ext cx="1901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telling the robot the best move from every single cell (100 decisions).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2496312" y="3246120"/>
            <a:ext cx="2057400" cy="1600200"/>
          </a:xfrm>
          <a:prstGeom prst="rect">
            <a:avLst/>
          </a:prstGeom>
          <a:solidFill>
            <a:srgbClr val="1A0A00"/>
          </a:solidFill>
          <a:ln w="19050">
            <a:solidFill>
              <a:srgbClr val="E8510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3" name="Text 111"/>
          <p:cNvSpPr/>
          <p:nvPr/>
        </p:nvSpPr>
        <p:spPr>
          <a:xfrm>
            <a:off x="2496312" y="3337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14" name="Text 112"/>
          <p:cNvSpPr/>
          <p:nvPr/>
        </p:nvSpPr>
        <p:spPr>
          <a:xfrm>
            <a:off x="2587752" y="3776472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Function</a:t>
            </a:r>
            <a:endParaRPr lang="en-US" sz="1600" dirty="0"/>
          </a:p>
        </p:txBody>
      </p:sp>
      <p:sp>
        <p:nvSpPr>
          <p:cNvPr id="115" name="Text 113"/>
          <p:cNvSpPr/>
          <p:nvPr/>
        </p:nvSpPr>
        <p:spPr>
          <a:xfrm>
            <a:off x="2587752" y="4087368"/>
            <a:ext cx="1901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for each position showing how good it is in the long run.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4672584" y="3246120"/>
            <a:ext cx="2057400" cy="1600200"/>
          </a:xfrm>
          <a:prstGeom prst="rect">
            <a:avLst/>
          </a:prstGeom>
          <a:solidFill>
            <a:srgbClr val="1A0A00"/>
          </a:solidFill>
          <a:ln w="19050">
            <a:solidFill>
              <a:srgbClr val="E8510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7" name="Text 115"/>
          <p:cNvSpPr/>
          <p:nvPr/>
        </p:nvSpPr>
        <p:spPr>
          <a:xfrm>
            <a:off x="4672584" y="3337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18" name="Text 116"/>
          <p:cNvSpPr/>
          <p:nvPr/>
        </p:nvSpPr>
        <p:spPr>
          <a:xfrm>
            <a:off x="4764024" y="3776472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 Navigation</a:t>
            </a:r>
            <a:endParaRPr lang="en-US" sz="1600" dirty="0"/>
          </a:p>
        </p:txBody>
      </p:sp>
      <p:sp>
        <p:nvSpPr>
          <p:cNvPr id="119" name="Text 117"/>
          <p:cNvSpPr/>
          <p:nvPr/>
        </p:nvSpPr>
        <p:spPr>
          <a:xfrm>
            <a:off x="4764024" y="4087368"/>
            <a:ext cx="1901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learns to avoid craters (−100) and lava zones (−30) automatically.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6848856" y="3246120"/>
            <a:ext cx="2057400" cy="1600200"/>
          </a:xfrm>
          <a:prstGeom prst="rect">
            <a:avLst/>
          </a:prstGeom>
          <a:solidFill>
            <a:srgbClr val="1A0A00"/>
          </a:solidFill>
          <a:ln w="19050">
            <a:solidFill>
              <a:srgbClr val="E8510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1" name="Text 119"/>
          <p:cNvSpPr/>
          <p:nvPr/>
        </p:nvSpPr>
        <p:spPr>
          <a:xfrm>
            <a:off x="6848856" y="3337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22" name="Text 120"/>
          <p:cNvSpPr/>
          <p:nvPr/>
        </p:nvSpPr>
        <p:spPr>
          <a:xfrm>
            <a:off x="6940296" y="3776472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 Achievement</a:t>
            </a:r>
            <a:endParaRPr lang="en-US" sz="1600" dirty="0"/>
          </a:p>
        </p:txBody>
      </p:sp>
      <p:sp>
        <p:nvSpPr>
          <p:cNvPr id="123" name="Text 121"/>
          <p:cNvSpPr/>
          <p:nvPr/>
        </p:nvSpPr>
        <p:spPr>
          <a:xfrm>
            <a:off x="6940296" y="4087368"/>
            <a:ext cx="1901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finds the shortest safe path to the +100 goal from any starting cell.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81408"/>
            <a:ext cx="4572000" cy="4572000"/>
          </a:xfrm>
          <a:prstGeom prst="ellipse">
            <a:avLst/>
          </a:prstGeom>
          <a:solidFill>
            <a:srgbClr val="FF4500">
              <a:alpha val="18000"/>
            </a:srgbClr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40332"/>
            <a:ext cx="3657600" cy="3657600"/>
          </a:xfrm>
          <a:prstGeom prst="ellipse">
            <a:avLst/>
          </a:prstGeom>
          <a:solidFill>
            <a:srgbClr val="E8510A">
              <a:alpha val="20000"/>
            </a:srgbClr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6264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2286000" y="887784"/>
            <a:ext cx="4572000" cy="45720"/>
          </a:xfrm>
          <a:prstGeom prst="rect">
            <a:avLst/>
          </a:prstGeom>
          <a:solidFill>
            <a:srgbClr val="E8510A"/>
          </a:solidFill>
          <a:ln w="12700">
            <a:solidFill>
              <a:srgbClr val="E851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43232"/>
            <a:ext cx="8412480" cy="658368"/>
          </a:xfrm>
          <a:prstGeom prst="rect">
            <a:avLst/>
          </a:prstGeom>
          <a:solidFill>
            <a:srgbClr val="2D1200"/>
          </a:solidFill>
          <a:ln w="19050">
            <a:solidFill>
              <a:srgbClr val="FF4500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43232"/>
            <a:ext cx="9144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7980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🌋  Real-World 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1079808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navigates a dangerous volcano and tries to reach its goal safely.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774752"/>
            <a:ext cx="8412480" cy="658368"/>
          </a:xfrm>
          <a:prstGeom prst="rect">
            <a:avLst/>
          </a:prstGeom>
          <a:solidFill>
            <a:srgbClr val="2D1200"/>
          </a:solidFill>
          <a:ln w="19050">
            <a:solidFill>
              <a:srgbClr val="E8510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74752"/>
            <a:ext cx="9144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1132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 MDP Foundation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1811328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MDP to help the robot make the best decision at each step.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506272"/>
            <a:ext cx="8412480" cy="658368"/>
          </a:xfrm>
          <a:prstGeom prst="rect">
            <a:avLst/>
          </a:prstGeom>
          <a:solidFill>
            <a:srgbClr val="2D1200"/>
          </a:solidFill>
          <a:ln w="19050">
            <a:solidFill>
              <a:srgbClr val="E8510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06272"/>
            <a:ext cx="9144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54284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Value Iteration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0" y="2542848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helps the robot learn which moves are better by checking rewards again and again until it finds the best path.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237792"/>
            <a:ext cx="8412480" cy="658368"/>
          </a:xfrm>
          <a:prstGeom prst="rect">
            <a:avLst/>
          </a:prstGeom>
          <a:solidFill>
            <a:srgbClr val="2D1200"/>
          </a:solidFill>
          <a:ln w="19050">
            <a:solidFill>
              <a:srgbClr val="E8510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237792"/>
            <a:ext cx="9144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27436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Smart Decisions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00400" y="3274368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avoids danger, collects rewards, and reaches the goal efficiently.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969312"/>
            <a:ext cx="8412480" cy="658368"/>
          </a:xfrm>
          <a:prstGeom prst="rect">
            <a:avLst/>
          </a:prstGeom>
          <a:solidFill>
            <a:srgbClr val="2D1200"/>
          </a:solidFill>
          <a:ln w="19050">
            <a:solidFill>
              <a:srgbClr val="E8510A"/>
            </a:solidFill>
            <a:prstDash val="solid"/>
          </a:ln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969312"/>
            <a:ext cx="9144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0058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94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Modular &amp; Extensible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00400" y="4005888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system is easy to modify by adding new features or changing rules.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357950" y="4743001"/>
            <a:ext cx="7198774" cy="317930"/>
          </a:xfrm>
          <a:prstGeom prst="rect">
            <a:avLst/>
          </a:prstGeom>
          <a:solidFill>
            <a:srgbClr val="E8510A">
              <a:alpha val="80000"/>
            </a:srgbClr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599" y="4619289"/>
            <a:ext cx="702177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b="1" dirty="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Volcano MDP — Teaching a Robot to Think, Navigate &amp; Survive  🌋🤖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F443E4-FD6B-5301-109B-9C4826F53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15" y="80615"/>
            <a:ext cx="8745170" cy="498227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35928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1583</Words>
  <Application>Microsoft Office PowerPoint</Application>
  <PresentationFormat>On-screen Show (16:9)</PresentationFormat>
  <Paragraphs>256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Consolas</vt:lpstr>
      <vt:lpstr>inherit</vt:lpstr>
      <vt:lpstr>Segoe UI Historic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Volcano MDP — Robot Navigation Under Uncertainty</dc:title>
  <dc:subject>PptxGenJS Presentation</dc:subject>
  <dc:creator>Volcano MDP Project</dc:creator>
  <cp:lastModifiedBy>NEW</cp:lastModifiedBy>
  <cp:revision>7</cp:revision>
  <dcterms:created xsi:type="dcterms:W3CDTF">2026-04-27T18:09:33Z</dcterms:created>
  <dcterms:modified xsi:type="dcterms:W3CDTF">2026-04-28T16:08:51Z</dcterms:modified>
</cp:coreProperties>
</file>